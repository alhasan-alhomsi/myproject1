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84" r:id="rId1"/>
  </p:sldMasterIdLst>
  <p:sldIdLst>
    <p:sldId id="256" r:id="rId2"/>
    <p:sldId id="258" r:id="rId3"/>
    <p:sldId id="257" r:id="rId4"/>
    <p:sldId id="262" r:id="rId5"/>
    <p:sldId id="263" r:id="rId6"/>
    <p:sldId id="265" r:id="rId7"/>
    <p:sldId id="264" r:id="rId8"/>
    <p:sldId id="292" r:id="rId9"/>
    <p:sldId id="267" r:id="rId10"/>
    <p:sldId id="270" r:id="rId11"/>
    <p:sldId id="271" r:id="rId12"/>
    <p:sldId id="272" r:id="rId13"/>
    <p:sldId id="273" r:id="rId14"/>
    <p:sldId id="294" r:id="rId15"/>
    <p:sldId id="295" r:id="rId16"/>
    <p:sldId id="296" r:id="rId17"/>
    <p:sldId id="297" r:id="rId18"/>
    <p:sldId id="279" r:id="rId19"/>
    <p:sldId id="281" r:id="rId20"/>
    <p:sldId id="282" r:id="rId21"/>
    <p:sldId id="283" r:id="rId22"/>
    <p:sldId id="284" r:id="rId23"/>
    <p:sldId id="286" r:id="rId24"/>
    <p:sldId id="291" r:id="rId25"/>
    <p:sldId id="287" r:id="rId26"/>
    <p:sldId id="289" r:id="rId27"/>
    <p:sldId id="290" r:id="rId28"/>
  </p:sldIdLst>
  <p:sldSz cx="12192000" cy="6858000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5" autoAdjust="0"/>
    <p:restoredTop sz="95033" autoAdjust="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6F33544-A7AD-3BC4-C093-0FA91F2FF4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34025016-397F-D8D7-3B1B-0517E97416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28703E39-79EF-ED18-E193-EE401FC8C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1CD56-5E09-42D1-9C23-086ABA3EA107}" type="datetimeFigureOut">
              <a:rPr lang="ar-SA" smtClean="0"/>
              <a:t>10/12/1447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AA45DB1E-187E-EABB-CCC8-A9909D631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73DA02B6-F5EA-BA2D-E837-38097ACC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B7FF7-207F-404D-8D69-ABBE36557384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955613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76105F8-64F0-2854-0287-07E4B01FA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E1AB04DF-3DE4-26DD-F014-5750D084F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E5AA0F96-3703-1C8B-76B4-21F608F76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1CD56-5E09-42D1-9C23-086ABA3EA107}" type="datetimeFigureOut">
              <a:rPr lang="ar-SA" smtClean="0"/>
              <a:t>10/12/1447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4F05703E-820C-FFE9-8C8E-8A2C7691B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7A796A23-7B85-7D22-4A2A-6C7F5EEEE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B7FF7-207F-404D-8D69-ABBE36557384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96098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DE7C210-F4B5-DDA3-2767-1513904E1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93281039-7059-BD06-AAE4-167493345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DAF538B6-3736-78EB-F7BA-A1BB21F09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1CD56-5E09-42D1-9C23-086ABA3EA107}" type="datetimeFigureOut">
              <a:rPr lang="ar-SA" smtClean="0"/>
              <a:t>10/12/1447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476AE1E8-DE3C-1206-FDF7-5C2E31550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B2C5635F-6A09-0A5D-FEDE-27AC16385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B7FF7-207F-404D-8D69-ABBE36557384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006359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C46BB92-64D5-D0A1-8FFB-0380C1C14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BBE3CE50-0794-7403-9517-403E04F464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41873D67-3A7A-1951-6EAB-A8C2C7AED9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767CA521-437D-9AF3-3E33-639CE6F68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1CD56-5E09-42D1-9C23-086ABA3EA107}" type="datetimeFigureOut">
              <a:rPr lang="ar-SA" smtClean="0"/>
              <a:t>10/12/1447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716DA402-DC31-C8EB-4BF5-C56DDDEB4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6EE6BB7D-F6D8-87C9-6D54-3398EE1B1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B7FF7-207F-404D-8D69-ABBE36557384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678029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02D0FEE-875A-DC6F-1CE1-C590232C6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66BE7124-C522-880D-27FB-9BBBE7DAE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4480D286-1F08-F8D3-3240-5BE171CDE6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9A2324B1-03D1-13D6-3F0C-CA08249883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4F648C34-EF99-9B11-0A6B-AC22911F2A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17EC757E-FE47-D966-8E05-5F10CE759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1CD56-5E09-42D1-9C23-086ABA3EA107}" type="datetimeFigureOut">
              <a:rPr lang="ar-SA" smtClean="0"/>
              <a:t>10/12/1447</a:t>
            </a:fld>
            <a:endParaRPr lang="ar-SA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ACA96521-093A-4047-38AE-61AAAE7E9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10B06D02-EF12-46CE-8DA0-14A1E7B03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B7FF7-207F-404D-8D69-ABBE36557384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549580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0CDCB4B-D6C9-FDD1-3796-407D42963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B4C090BC-35A4-63A4-BF64-B3A7CC2E5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1CD56-5E09-42D1-9C23-086ABA3EA107}" type="datetimeFigureOut">
              <a:rPr lang="ar-SA" smtClean="0"/>
              <a:t>10/12/1447</a:t>
            </a:fld>
            <a:endParaRPr lang="ar-SA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046F4284-FD90-A989-77D5-19D94799F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F67B8A6C-505E-AEF5-FAA0-9DD401441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B7FF7-207F-404D-8D69-ABBE36557384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695147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911D1198-F784-4956-9CD3-EBCF0A006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1CD56-5E09-42D1-9C23-086ABA3EA107}" type="datetimeFigureOut">
              <a:rPr lang="ar-SA" smtClean="0"/>
              <a:t>10/12/1447</a:t>
            </a:fld>
            <a:endParaRPr lang="ar-SA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02359F8C-1C4D-2E3F-9A0E-2375F2E26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468097C9-6E15-18D8-47DA-B60825A67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B7FF7-207F-404D-8D69-ABBE36557384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574598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B415039-96A1-2E49-6FA6-8870223C9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FACF228F-9B50-33DB-7E86-491D4773B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94CDDA6B-CB42-9956-1A54-9687BBCFE4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C1677EF6-5790-AFC5-E833-2EC64921A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1CD56-5E09-42D1-9C23-086ABA3EA107}" type="datetimeFigureOut">
              <a:rPr lang="ar-SA" smtClean="0"/>
              <a:t>10/12/1447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D530F0BF-D64A-24BF-235A-2837128EB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73F83110-2D59-CC1C-1775-10F7F167E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B7FF7-207F-404D-8D69-ABBE36557384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514301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07168C4-0433-F6BD-840D-718C530B7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36D5EF24-2EE7-CFF1-FF0B-032632D770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377C2611-6635-803A-9B54-E4912CB81B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E849D4EA-C319-8494-A0E6-7487C08F0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1CD56-5E09-42D1-9C23-086ABA3EA107}" type="datetimeFigureOut">
              <a:rPr lang="ar-SA" smtClean="0"/>
              <a:t>10/12/1447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CAD82222-FB78-1250-D45B-43143FE5D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9BE84919-2996-2604-1841-92B443B72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B7FF7-207F-404D-8D69-ABBE36557384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262212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F560451-B3F9-2667-7E9C-C54A9B6F4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4DF04E52-1AB5-AF10-6AC1-B163D2E2A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9EEA0BA3-9AA4-BABE-5F72-D7D0F5C9B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1CD56-5E09-42D1-9C23-086ABA3EA107}" type="datetimeFigureOut">
              <a:rPr lang="ar-SA" smtClean="0"/>
              <a:t>10/12/1447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D560919C-D990-AC12-FC50-41D5448A3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05229785-2A87-7562-7FE8-91269D1C6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B7FF7-207F-404D-8D69-ABBE36557384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729516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BA176786-C562-535B-4F3A-3F07CF521D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CFA068F8-2C59-55AF-23C1-D04EDD5770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2D1EC2D5-E6E7-E045-2994-7D52C2E81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1CD56-5E09-42D1-9C23-086ABA3EA107}" type="datetimeFigureOut">
              <a:rPr lang="ar-SA" smtClean="0"/>
              <a:t>10/12/1447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E631BD44-8A6D-BA99-EEA3-F4D271D09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456B1AB0-A167-C480-FD45-B8E0202ED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B7FF7-207F-404D-8D69-ABBE36557384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860539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24CD223C-3690-64A0-D549-AAC403E57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BACD708B-AC9E-F15B-DCE7-EA0D96474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BBD670A7-5A9A-5442-4EB9-B78D5E4D19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21CD56-5E09-42D1-9C23-086ABA3EA107}" type="datetimeFigureOut">
              <a:rPr lang="ar-SA" smtClean="0"/>
              <a:t>10/12/1447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E20E9FE3-AB2B-4D3E-4D8D-E8700F9BE0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EDB5E7B5-489F-B793-AEF5-F7795CE09A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5B7FF7-207F-404D-8D69-ABBE36557384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55282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0.xml"/><Relationship Id="rId5" Type="http://schemas.openxmlformats.org/officeDocument/2006/relationships/hyperlink" Target="Project/DVLD/DVLD.sln" TargetMode="External"/><Relationship Id="rId4" Type="http://schemas.openxmlformats.org/officeDocument/2006/relationships/slide" Target="slide2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3978A5B-0E7B-C098-E47B-63AC0FA25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50213" y="2202765"/>
            <a:ext cx="7981925" cy="1407389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Driving &amp; Vehicle License Department</a:t>
            </a:r>
            <a:br>
              <a:rPr lang="en-US" sz="4000" dirty="0">
                <a:solidFill>
                  <a:srgbClr val="FF0000"/>
                </a:solidFill>
              </a:rPr>
            </a:br>
            <a:r>
              <a:rPr lang="en-US" sz="4000" dirty="0">
                <a:solidFill>
                  <a:srgbClr val="FF0000"/>
                </a:solidFill>
              </a:rPr>
              <a:t>(DVLD)</a:t>
            </a:r>
            <a:endParaRPr lang="ar-SA" sz="4000" dirty="0">
              <a:solidFill>
                <a:srgbClr val="FF0000"/>
              </a:solidFill>
            </a:endParaRP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F3828DBA-7A45-7222-9D54-4094364A2E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0514" y="4484247"/>
            <a:ext cx="4474724" cy="1407389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SUPERVISOR'S NAME: 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Dr. Kadan</a:t>
            </a:r>
            <a:endParaRPr lang="ar-SA" sz="2400" dirty="0">
              <a:solidFill>
                <a:schemeClr val="tx1">
                  <a:lumMod val="95000"/>
                  <a:lumOff val="5000"/>
                </a:schemeClr>
              </a:solidFill>
              <a:latin typeface="Andalus" panose="02020603050405020304" pitchFamily="18" charset="-78"/>
              <a:cs typeface="Andalus" panose="02020603050405020304" pitchFamily="18" charset="-78"/>
            </a:endParaRP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Eng.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tx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Mohammed</a:t>
            </a:r>
            <a:endParaRPr lang="ar-SA" sz="2400" dirty="0">
              <a:solidFill>
                <a:schemeClr val="tx1"/>
              </a:solidFill>
              <a:latin typeface="Andalus" panose="02020603050405020304" pitchFamily="18" charset="-78"/>
              <a:cs typeface="Andalus" panose="02020603050405020304" pitchFamily="18" charset="-78"/>
            </a:endParaRPr>
          </a:p>
          <a:p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sp>
        <p:nvSpPr>
          <p:cNvPr id="4" name="مستطيل 3">
            <a:extLst>
              <a:ext uri="{FF2B5EF4-FFF2-40B4-BE49-F238E27FC236}">
                <a16:creationId xmlns:a16="http://schemas.microsoft.com/office/drawing/2014/main" id="{9BFABE16-B720-059C-52C8-7D108110D065}"/>
              </a:ext>
            </a:extLst>
          </p:cNvPr>
          <p:cNvSpPr/>
          <p:nvPr/>
        </p:nvSpPr>
        <p:spPr>
          <a:xfrm>
            <a:off x="213774" y="2053087"/>
            <a:ext cx="2717260" cy="4149099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l"/>
            <a:r>
              <a:rPr lang="en-US" sz="2000" dirty="0">
                <a:latin typeface="Andalus" panose="02020603050405020304" pitchFamily="18" charset="-78"/>
                <a:cs typeface="DecoType Naskh Variants" panose="02010400000000000000" pitchFamily="2" charset="-78"/>
              </a:rPr>
              <a:t>Students Name : </a:t>
            </a:r>
          </a:p>
          <a:p>
            <a:pPr algn="l"/>
            <a:r>
              <a:rPr lang="en-US" sz="2000" dirty="0">
                <a:latin typeface="Andalus" panose="02020603050405020304" pitchFamily="18" charset="-78"/>
                <a:cs typeface="DecoType Naskh Variants" panose="02010400000000000000" pitchFamily="2" charset="-78"/>
              </a:rPr>
              <a:t>Hasan Al-</a:t>
            </a:r>
            <a:r>
              <a:rPr lang="en-US" sz="2000" dirty="0" err="1">
                <a:latin typeface="Andalus" panose="02020603050405020304" pitchFamily="18" charset="-78"/>
                <a:cs typeface="DecoType Naskh Variants" panose="02010400000000000000" pitchFamily="2" charset="-78"/>
              </a:rPr>
              <a:t>homsi</a:t>
            </a:r>
            <a:endParaRPr lang="en-US" sz="2000" dirty="0">
              <a:latin typeface="Andalus" panose="02020603050405020304" pitchFamily="18" charset="-78"/>
              <a:cs typeface="DecoType Naskh Variants" panose="02010400000000000000" pitchFamily="2" charset="-78"/>
            </a:endParaRPr>
          </a:p>
          <a:p>
            <a:pPr algn="l"/>
            <a:r>
              <a:rPr lang="en-US" sz="2000" dirty="0">
                <a:latin typeface="Andalus" panose="02020603050405020304" pitchFamily="18" charset="-78"/>
                <a:cs typeface="DecoType Naskh Variants" panose="02010400000000000000" pitchFamily="2" charset="-78"/>
              </a:rPr>
              <a:t>Ahmad Al-</a:t>
            </a:r>
            <a:r>
              <a:rPr lang="en-US" sz="2000" dirty="0" err="1">
                <a:latin typeface="Andalus" panose="02020603050405020304" pitchFamily="18" charset="-78"/>
                <a:cs typeface="DecoType Naskh Variants" panose="02010400000000000000" pitchFamily="2" charset="-78"/>
              </a:rPr>
              <a:t>asfar</a:t>
            </a:r>
            <a:endParaRPr lang="en-US" sz="2000" dirty="0">
              <a:latin typeface="Andalus" panose="02020603050405020304" pitchFamily="18" charset="-78"/>
              <a:cs typeface="DecoType Naskh Variants" panose="02010400000000000000" pitchFamily="2" charset="-78"/>
            </a:endParaRPr>
          </a:p>
          <a:p>
            <a:pPr algn="l"/>
            <a:r>
              <a:rPr lang="en-US" sz="2000" dirty="0">
                <a:latin typeface="Andalus" panose="02020603050405020304" pitchFamily="18" charset="-78"/>
                <a:cs typeface="DecoType Naskh Variants" panose="02010400000000000000" pitchFamily="2" charset="-78"/>
              </a:rPr>
              <a:t>Adnan Al-</a:t>
            </a:r>
            <a:r>
              <a:rPr lang="en-US" sz="2000" dirty="0" err="1">
                <a:latin typeface="Andalus" panose="02020603050405020304" pitchFamily="18" charset="-78"/>
                <a:cs typeface="DecoType Naskh Variants" panose="02010400000000000000" pitchFamily="2" charset="-78"/>
              </a:rPr>
              <a:t>masalmeh</a:t>
            </a:r>
            <a:endParaRPr lang="ar-SA" sz="2000" dirty="0">
              <a:latin typeface="Andalus" panose="02020603050405020304" pitchFamily="18" charset="-78"/>
              <a:cs typeface="DecoType Naskh Variants" panose="02010400000000000000" pitchFamily="2" charset="-78"/>
            </a:endParaRPr>
          </a:p>
        </p:txBody>
      </p:sp>
      <p:pic>
        <p:nvPicPr>
          <p:cNvPr id="5" name="Picture 4" descr="SPU final Hor">
            <a:extLst>
              <a:ext uri="{FF2B5EF4-FFF2-40B4-BE49-F238E27FC236}">
                <a16:creationId xmlns:a16="http://schemas.microsoft.com/office/drawing/2014/main" id="{9D9CD77C-86A6-414E-BFE0-8ED2537F2F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1638" y="114030"/>
            <a:ext cx="3102610" cy="1057275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AC7879-550F-499F-82D0-AC2E3A6AFD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309" y="114030"/>
            <a:ext cx="3667125" cy="112458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A893C36-7A17-44EB-8BD2-991287570CB7}"/>
                  </a:ext>
                </a:extLst>
              </p:cNvPr>
              <p:cNvSpPr txBox="1"/>
              <p:nvPr/>
            </p:nvSpPr>
            <p:spPr>
              <a:xfrm>
                <a:off x="9435591" y="6023223"/>
                <a:ext cx="2542635" cy="5912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16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Simplified Arabic" panose="02020603050405020304" pitchFamily="18" charset="-78"/>
                  </a:rPr>
                  <a:t>Damascus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Simplified Arabic" panose="02020603050405020304" pitchFamily="18" charset="-78"/>
                  </a:rPr>
                  <a:t> 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ar-SA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implified Arabic" panose="02020603050405020304" pitchFamily="18" charset="-78"/>
                          </a:rPr>
                          <m:t>هـ</m:t>
                        </m:r>
                        <m:r>
                          <a:rPr lang="en-US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implified Arabic" panose="02020603050405020304" pitchFamily="18" charset="-78"/>
                          </a:rPr>
                          <m:t>𝟏𝟒𝟒𝟕</m:t>
                        </m:r>
                        <m:r>
                          <a:rPr lang="de-DE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implified Arabic" panose="02020603050405020304" pitchFamily="18" charset="-78"/>
                          </a:rPr>
                          <m:t>−</m:t>
                        </m:r>
                        <m:r>
                          <a:rPr lang="en-US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implified Arabic" panose="02020603050405020304" pitchFamily="18" charset="-78"/>
                          </a:rPr>
                          <m:t>𝟏𝟒𝟒𝟖</m:t>
                        </m:r>
                      </m:num>
                      <m:den>
                        <m:r>
                          <a:rPr lang="ar-SA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implified Arabic" panose="02020603050405020304" pitchFamily="18" charset="-78"/>
                          </a:rPr>
                          <m:t>م</m:t>
                        </m:r>
                        <m:r>
                          <a:rPr lang="ar-SA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implified Arabic" panose="02020603050405020304" pitchFamily="18" charset="-78"/>
                          </a:rPr>
                          <m:t> </m:t>
                        </m:r>
                        <m:r>
                          <a:rPr lang="en-US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implified Arabic" panose="02020603050405020304" pitchFamily="18" charset="-78"/>
                          </a:rPr>
                          <m:t>𝟐𝟎𝟐𝟓</m:t>
                        </m:r>
                        <m:r>
                          <a:rPr lang="de-DE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implified Arabic" panose="02020603050405020304" pitchFamily="18" charset="-78"/>
                          </a:rPr>
                          <m:t>−</m:t>
                        </m:r>
                        <m:r>
                          <a:rPr lang="en-US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implified Arabic" panose="02020603050405020304" pitchFamily="18" charset="-78"/>
                          </a:rPr>
                          <m:t>𝟐𝟎𝟐𝟔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A893C36-7A17-44EB-8BD2-991287570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5591" y="6023223"/>
                <a:ext cx="2542635" cy="591252"/>
              </a:xfrm>
              <a:prstGeom prst="rect">
                <a:avLst/>
              </a:prstGeom>
              <a:blipFill>
                <a:blip r:embed="rId4"/>
                <a:stretch>
                  <a:fillRect t="-3093" b="-61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54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7652708-D32D-71E0-2E3F-68D7D3D48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999" y="274811"/>
            <a:ext cx="3476167" cy="1989014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Abstract/Introduction</a:t>
            </a:r>
            <a:endParaRPr lang="ar-SA" sz="4000" b="1" dirty="0">
              <a:solidFill>
                <a:srgbClr val="FF0000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E486FB96-0B4F-7DB3-FE33-9BA7EF054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6516" y="2458065"/>
            <a:ext cx="9837135" cy="3653142"/>
          </a:xfrm>
        </p:spPr>
        <p:txBody>
          <a:bodyPr/>
          <a:lstStyle/>
          <a:p>
            <a:pPr marL="0" indent="0" algn="l">
              <a:buNone/>
            </a:pPr>
            <a:r>
              <a:rPr lang="en-US" sz="3200" dirty="0">
                <a:effectLst/>
                <a:latin typeface="Microsoft Uighur" panose="02000000000000000000" pitchFamily="2" charset="-78"/>
                <a:ea typeface="Microsoft Himalaya" panose="01010100010101010101" pitchFamily="2" charset="0"/>
                <a:cs typeface="Microsoft Uighur" panose="02000000000000000000" pitchFamily="2" charset="-78"/>
              </a:rPr>
              <a:t>The DVLD System is a comprehensive digital platform developed to modernize and automate driving license services </a:t>
            </a:r>
            <a:r>
              <a:rPr lang="en-US" sz="3200" dirty="0">
                <a:solidFill>
                  <a:schemeClr val="tx1"/>
                </a:solidFill>
                <a:latin typeface="Microsoft Uighur" panose="02000000000000000000" pitchFamily="2" charset="-78"/>
                <a:cs typeface="Kufi Extended Outline" panose="04010401010101010101" pitchFamily="82" charset="-78"/>
              </a:rPr>
              <a:t>such as issuing, renewing, and replacing lost or damaged licenses. We developed DVLD using C# </a:t>
            </a:r>
            <a:r>
              <a:rPr lang="en-US" sz="3200" dirty="0" err="1">
                <a:solidFill>
                  <a:schemeClr val="tx1"/>
                </a:solidFill>
                <a:latin typeface="Microsoft Uighur" panose="02000000000000000000" pitchFamily="2" charset="-78"/>
                <a:cs typeface="Kufi Extended Outline" panose="04010401010101010101" pitchFamily="82" charset="-78"/>
              </a:rPr>
              <a:t>.net</a:t>
            </a:r>
            <a:r>
              <a:rPr lang="en-US" sz="3200" dirty="0">
                <a:solidFill>
                  <a:schemeClr val="tx1"/>
                </a:solidFill>
                <a:latin typeface="Microsoft Uighur" panose="02000000000000000000" pitchFamily="2" charset="-78"/>
                <a:cs typeface="Kufi Extended Outline" panose="04010401010101010101" pitchFamily="82" charset="-78"/>
              </a:rPr>
              <a:t> framework windows form &amp; for Desktop and Razor C# </a:t>
            </a:r>
            <a:r>
              <a:rPr lang="en-US" sz="3200" dirty="0" err="1">
                <a:solidFill>
                  <a:schemeClr val="tx1"/>
                </a:solidFill>
                <a:latin typeface="Microsoft Uighur" panose="02000000000000000000" pitchFamily="2" charset="-78"/>
                <a:cs typeface="Kufi Extended Outline" panose="04010401010101010101" pitchFamily="82" charset="-78"/>
              </a:rPr>
              <a:t>html,css,js</a:t>
            </a:r>
            <a:r>
              <a:rPr lang="en-US" sz="3200" dirty="0">
                <a:solidFill>
                  <a:schemeClr val="tx1"/>
                </a:solidFill>
                <a:latin typeface="Microsoft Uighur" panose="02000000000000000000" pitchFamily="2" charset="-78"/>
                <a:cs typeface="Kufi Extended Outline" panose="04010401010101010101" pitchFamily="82" charset="-78"/>
              </a:rPr>
              <a:t> for </a:t>
            </a:r>
            <a:r>
              <a:rPr lang="en-US" sz="3200" dirty="0" err="1">
                <a:solidFill>
                  <a:schemeClr val="tx1"/>
                </a:solidFill>
                <a:latin typeface="Microsoft Uighur" panose="02000000000000000000" pitchFamily="2" charset="-78"/>
                <a:cs typeface="Kufi Extended Outline" panose="04010401010101010101" pitchFamily="82" charset="-78"/>
              </a:rPr>
              <a:t>wep</a:t>
            </a:r>
            <a:r>
              <a:rPr lang="en-US" sz="3200" dirty="0">
                <a:solidFill>
                  <a:schemeClr val="tx1"/>
                </a:solidFill>
                <a:latin typeface="Microsoft Uighur" panose="02000000000000000000" pitchFamily="2" charset="-78"/>
                <a:cs typeface="Kufi Extended Outline" panose="04010401010101010101" pitchFamily="82" charset="-78"/>
              </a:rPr>
              <a:t> portal to make the process easy for both citizen and employee.</a:t>
            </a:r>
            <a:endParaRPr lang="ar-SA" dirty="0">
              <a:solidFill>
                <a:schemeClr val="tx1"/>
              </a:solidFill>
              <a:latin typeface="Microsoft Uighur" panose="02000000000000000000" pitchFamily="2" charset="-78"/>
              <a:cs typeface="Kufi Extended Outline" panose="04010401010101010101" pitchFamily="8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32059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F627C14-7D28-9EF1-B242-88E7A4593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4305" y="139308"/>
            <a:ext cx="4583390" cy="203765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Problem Statement &amp; Objectives</a:t>
            </a:r>
            <a:endParaRPr lang="ar-SA" sz="4000" b="1" dirty="0">
              <a:solidFill>
                <a:srgbClr val="FF0000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59ED2FA5-E26E-D921-B8AB-F6562C8BD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6372" y="2051768"/>
            <a:ext cx="3367771" cy="3883206"/>
          </a:xfrm>
        </p:spPr>
        <p:txBody>
          <a:bodyPr>
            <a:normAutofit/>
          </a:bodyPr>
          <a:lstStyle/>
          <a:p>
            <a:pPr marL="0" indent="0" algn="l" rtl="0">
              <a:buNone/>
            </a:pPr>
            <a:r>
              <a:rPr lang="en-US" sz="3200" b="1" dirty="0">
                <a:latin typeface="Microsoft Uighur" panose="02000000000000000000" pitchFamily="2" charset="-78"/>
                <a:cs typeface="Microsoft Uighur" panose="02000000000000000000" pitchFamily="2" charset="-78"/>
              </a:rPr>
              <a:t>The </a:t>
            </a:r>
            <a:r>
              <a:rPr lang="en-US" sz="3200" b="1" dirty="0" err="1">
                <a:latin typeface="Microsoft Uighur" panose="02000000000000000000" pitchFamily="2" charset="-78"/>
                <a:cs typeface="Microsoft Uighur" panose="02000000000000000000" pitchFamily="2" charset="-78"/>
              </a:rPr>
              <a:t>proplem</a:t>
            </a:r>
            <a:r>
              <a:rPr lang="en-US" sz="3200" b="1" dirty="0">
                <a:latin typeface="Microsoft Uighur" panose="02000000000000000000" pitchFamily="2" charset="-78"/>
                <a:cs typeface="Microsoft Uighur" panose="02000000000000000000" pitchFamily="2" charset="-78"/>
              </a:rPr>
              <a:t> :</a:t>
            </a:r>
          </a:p>
          <a:p>
            <a:pPr marL="0" indent="0" algn="l" rtl="0">
              <a:buNone/>
            </a:pPr>
            <a:r>
              <a:rPr lang="en-US" sz="3200" dirty="0">
                <a:latin typeface="Microsoft Uighur" panose="02000000000000000000" pitchFamily="2" charset="-78"/>
                <a:cs typeface="Microsoft Uighur" panose="02000000000000000000" pitchFamily="2" charset="-78"/>
              </a:rPr>
              <a:t>  Manual processing results in overlapping test scheduling, human indexing mistakes, and severe lack of historical transparency for driving licenses and violations. </a:t>
            </a:r>
            <a:endParaRPr lang="ar-S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25B6F8-F149-4B0C-B4FD-C68F4A25FD7D}"/>
              </a:ext>
            </a:extLst>
          </p:cNvPr>
          <p:cNvSpPr txBox="1"/>
          <p:nvPr/>
        </p:nvSpPr>
        <p:spPr>
          <a:xfrm>
            <a:off x="6021238" y="2176960"/>
            <a:ext cx="3950897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sz="2800" b="1" dirty="0">
                <a:latin typeface="Microsoft Uighur" panose="02000000000000000000" pitchFamily="2" charset="-78"/>
                <a:cs typeface="Microsoft Uighur" panose="02000000000000000000" pitchFamily="2" charset="-78"/>
              </a:rPr>
              <a:t>Project Objectives:</a:t>
            </a:r>
            <a:endParaRPr lang="en-US" sz="2800" b="1" dirty="0">
              <a:solidFill>
                <a:schemeClr val="tx1"/>
              </a:solidFill>
              <a:latin typeface="Microsoft Uighur" panose="02000000000000000000" pitchFamily="2" charset="-78"/>
              <a:cs typeface="Microsoft Uighur" panose="02000000000000000000" pitchFamily="2" charset="-78"/>
            </a:endParaRPr>
          </a:p>
          <a:p>
            <a:pPr algn="l" rtl="0"/>
            <a:r>
              <a:rPr lang="en-US" sz="2800" dirty="0">
                <a:solidFill>
                  <a:schemeClr val="tx1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Automating the license application process and reducing human error.</a:t>
            </a:r>
          </a:p>
          <a:p>
            <a:pPr algn="l" rtl="0"/>
            <a:r>
              <a:rPr lang="en-US" sz="2800" dirty="0">
                <a:solidFill>
                  <a:schemeClr val="tx1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Simplifying the search process and managing user data and applications.</a:t>
            </a:r>
          </a:p>
          <a:p>
            <a:pPr algn="l" rtl="0"/>
            <a:r>
              <a:rPr lang="en-US" sz="2800" dirty="0">
                <a:solidFill>
                  <a:schemeClr val="tx1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Enhancing the user experience through an interactive and user-friendly interface.</a:t>
            </a:r>
            <a:endParaRPr lang="ar-SA" sz="2800" dirty="0">
              <a:latin typeface="Microsoft Uighur" panose="02000000000000000000" pitchFamily="2" charset="-78"/>
              <a:cs typeface="Microsoft Uighur" panose="02000000000000000000" pitchFamily="2" charset="-78"/>
            </a:endParaRPr>
          </a:p>
          <a:p>
            <a:pPr algn="l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27943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461BCB3-8BCA-B1DB-1B0F-E45724BC1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4688" y="76648"/>
            <a:ext cx="5110052" cy="84467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Scope, Constraints &amp; Assumptions</a:t>
            </a:r>
            <a:endParaRPr lang="ar-SA" sz="4400" dirty="0">
              <a:solidFill>
                <a:srgbClr val="FF0000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6A162176-0B1B-2439-1377-5E8E535A4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13" y="921327"/>
            <a:ext cx="11726976" cy="562204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3200" b="1" i="0" dirty="0">
                <a:effectLst/>
                <a:latin typeface="Microsoft Uighur" panose="02000000000000000000" pitchFamily="2" charset="-78"/>
                <a:cs typeface="Microsoft Uighur" panose="02000000000000000000" pitchFamily="2" charset="-78"/>
              </a:rPr>
              <a:t>System Scope :</a:t>
            </a:r>
          </a:p>
          <a:p>
            <a:pPr marL="0" indent="0" algn="l">
              <a:buNone/>
            </a:pPr>
            <a:r>
              <a:rPr lang="en-US" sz="3200" b="0" i="0" dirty="0">
                <a:effectLst/>
                <a:latin typeface="Microsoft Uighur" panose="02000000000000000000" pitchFamily="2" charset="-78"/>
                <a:cs typeface="Microsoft Uighur" panose="02000000000000000000" pitchFamily="2" charset="-78"/>
              </a:rPr>
              <a:t>Fully automates vision, written, and practical street exams. Handles domestic and international licensing, replacement of lost or damaged documents, and violation-based license holds.</a:t>
            </a:r>
          </a:p>
          <a:p>
            <a:pPr marL="0" indent="0" algn="l">
              <a:buNone/>
            </a:pPr>
            <a:r>
              <a:rPr lang="en-US" sz="3200" b="1" i="0" dirty="0">
                <a:effectLst/>
                <a:latin typeface="Microsoft Uighur" panose="02000000000000000000" pitchFamily="2" charset="-78"/>
                <a:cs typeface="Microsoft Uighur" panose="02000000000000000000" pitchFamily="2" charset="-78"/>
              </a:rPr>
              <a:t>Key Constraints:</a:t>
            </a:r>
          </a:p>
          <a:p>
            <a:pPr marL="0" indent="0" algn="l">
              <a:buNone/>
            </a:pPr>
            <a:r>
              <a:rPr lang="en-US" sz="3200" b="0" i="0" dirty="0">
                <a:effectLst/>
                <a:latin typeface="Microsoft Uighur" panose="02000000000000000000" pitchFamily="2" charset="-78"/>
                <a:cs typeface="Microsoft Uighur" panose="02000000000000000000" pitchFamily="2" charset="-78"/>
              </a:rPr>
              <a:t>Bound to a 1-semester project schedule. Employs offline SQL Server schemas. Relies on internal government LAN architectures with low-latency requirement bounds.</a:t>
            </a:r>
          </a:p>
          <a:p>
            <a:pPr marL="0" indent="0" algn="l">
              <a:buNone/>
            </a:pPr>
            <a:r>
              <a:rPr lang="en-US" sz="3200" b="1" i="0" dirty="0">
                <a:effectLst/>
                <a:latin typeface="Microsoft Uighur" panose="02000000000000000000" pitchFamily="2" charset="-78"/>
                <a:cs typeface="Microsoft Uighur" panose="02000000000000000000" pitchFamily="2" charset="-78"/>
              </a:rPr>
              <a:t>Operational Assumptions :</a:t>
            </a:r>
          </a:p>
          <a:p>
            <a:pPr marL="0" indent="0" algn="l">
              <a:buNone/>
            </a:pPr>
            <a:r>
              <a:rPr lang="en-US" sz="3200" b="0" i="0" dirty="0">
                <a:effectLst/>
                <a:latin typeface="Microsoft Uighur" panose="02000000000000000000" pitchFamily="2" charset="-78"/>
                <a:cs typeface="Microsoft Uighur" panose="02000000000000000000" pitchFamily="2" charset="-78"/>
              </a:rPr>
              <a:t>Operators possess basic desktop computing literacy. Database replication targets central SQL server nodes nightly. Citizens have standard internet browser clients.</a:t>
            </a:r>
          </a:p>
          <a:p>
            <a:pPr algn="l"/>
            <a:endParaRPr lang="en-US" sz="3200" b="0" i="0" dirty="0">
              <a:solidFill>
                <a:srgbClr val="94A3B8"/>
              </a:solidFill>
              <a:effectLst/>
              <a:latin typeface="Plus Jakarta Sans"/>
            </a:endParaRPr>
          </a:p>
          <a:p>
            <a:pPr marL="0" indent="0" algn="l" rtl="0">
              <a:buNone/>
            </a:pPr>
            <a:endParaRPr lang="en-US" sz="4400" dirty="0">
              <a:latin typeface="Microsoft Uighur" panose="02000000000000000000" pitchFamily="2" charset="-78"/>
              <a:ea typeface="ADLaM Display" panose="02010000000000000000" pitchFamily="2" charset="0"/>
              <a:cs typeface="Microsoft Uighur" panose="02000000000000000000" pitchFamily="2" charset="-78"/>
            </a:endParaRPr>
          </a:p>
        </p:txBody>
      </p:sp>
      <p:sp>
        <p:nvSpPr>
          <p:cNvPr id="4" name="عنصر نائب للمحتوى 2">
            <a:extLst>
              <a:ext uri="{FF2B5EF4-FFF2-40B4-BE49-F238E27FC236}">
                <a16:creationId xmlns:a16="http://schemas.microsoft.com/office/drawing/2014/main" id="{37F448A6-9A8C-F102-09FA-B2A5FE5F719A}"/>
              </a:ext>
            </a:extLst>
          </p:cNvPr>
          <p:cNvSpPr txBox="1">
            <a:spLocks/>
          </p:cNvSpPr>
          <p:nvPr/>
        </p:nvSpPr>
        <p:spPr>
          <a:xfrm>
            <a:off x="5368412" y="921326"/>
            <a:ext cx="6319417" cy="562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r" defTabSz="914400" rtl="1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r" defTabSz="914400" rtl="1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r" defTabSz="914400" rtl="1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r" defTabSz="914400" rtl="1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r" defTabSz="914400" rtl="1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endParaRPr lang="ar-SA" dirty="0">
              <a:solidFill>
                <a:schemeClr val="tx1"/>
              </a:solidFill>
              <a:effectLst/>
              <a:latin typeface="Microsoft Uighur" panose="02000000000000000000" pitchFamily="2" charset="-78"/>
              <a:ea typeface="ADLaM Display" panose="02010000000000000000" pitchFamily="2" charset="0"/>
              <a:cs typeface="Microsoft Uighur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23244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44D9B7F-4630-F309-2B0C-D63B09A8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3343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Related Works</a:t>
            </a:r>
            <a:endParaRPr lang="ar-SA" sz="4400" dirty="0">
              <a:solidFill>
                <a:srgbClr val="FF0000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graphicFrame>
        <p:nvGraphicFramePr>
          <p:cNvPr id="31" name="عنصر نائب للمحتوى 30">
            <a:extLst>
              <a:ext uri="{FF2B5EF4-FFF2-40B4-BE49-F238E27FC236}">
                <a16:creationId xmlns:a16="http://schemas.microsoft.com/office/drawing/2014/main" id="{2D724D60-E3FC-BE86-8F33-420ECBE6F8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1300584"/>
              </p:ext>
            </p:extLst>
          </p:nvPr>
        </p:nvGraphicFramePr>
        <p:xfrm>
          <a:off x="446623" y="1475117"/>
          <a:ext cx="11088332" cy="52168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88615">
                  <a:extLst>
                    <a:ext uri="{9D8B030D-6E8A-4147-A177-3AD203B41FA5}">
                      <a16:colId xmlns:a16="http://schemas.microsoft.com/office/drawing/2014/main" val="4249847290"/>
                    </a:ext>
                  </a:extLst>
                </a:gridCol>
                <a:gridCol w="1509623">
                  <a:extLst>
                    <a:ext uri="{9D8B030D-6E8A-4147-A177-3AD203B41FA5}">
                      <a16:colId xmlns:a16="http://schemas.microsoft.com/office/drawing/2014/main" val="2731285707"/>
                    </a:ext>
                  </a:extLst>
                </a:gridCol>
                <a:gridCol w="2303252">
                  <a:extLst>
                    <a:ext uri="{9D8B030D-6E8A-4147-A177-3AD203B41FA5}">
                      <a16:colId xmlns:a16="http://schemas.microsoft.com/office/drawing/2014/main" val="544972791"/>
                    </a:ext>
                  </a:extLst>
                </a:gridCol>
                <a:gridCol w="2587925">
                  <a:extLst>
                    <a:ext uri="{9D8B030D-6E8A-4147-A177-3AD203B41FA5}">
                      <a16:colId xmlns:a16="http://schemas.microsoft.com/office/drawing/2014/main" val="2555068826"/>
                    </a:ext>
                  </a:extLst>
                </a:gridCol>
                <a:gridCol w="1398917">
                  <a:extLst>
                    <a:ext uri="{9D8B030D-6E8A-4147-A177-3AD203B41FA5}">
                      <a16:colId xmlns:a16="http://schemas.microsoft.com/office/drawing/2014/main" val="514036142"/>
                    </a:ext>
                  </a:extLst>
                </a:gridCol>
              </a:tblGrid>
              <a:tr h="747836"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Comparison Aspect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RTA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Dubai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DMV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United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States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DVLA United Kingdom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DVLD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28969016"/>
                  </a:ext>
                </a:extLst>
              </a:tr>
              <a:tr h="364451"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Citizen Online Portal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95746810"/>
                  </a:ext>
                </a:extLst>
              </a:tr>
              <a:tr h="364451"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Mobile Application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✗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✗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1530156"/>
                  </a:ext>
                </a:extLst>
              </a:tr>
              <a:tr h="205857"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Account Login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09843757"/>
                  </a:ext>
                </a:extLst>
              </a:tr>
              <a:tr h="364451"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License Application Services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85114381"/>
                  </a:ext>
                </a:extLst>
              </a:tr>
              <a:tr h="364451"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Application Status Tracking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07438840"/>
                  </a:ext>
                </a:extLst>
              </a:tr>
              <a:tr h="364451"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Test Appointment / Progress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02887497"/>
                  </a:ext>
                </a:extLst>
              </a:tr>
              <a:tr h="205857"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Online Payment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07852102"/>
                  </a:ext>
                </a:extLst>
              </a:tr>
              <a:tr h="364451"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Employee/Internal System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64861024"/>
                  </a:ext>
                </a:extLst>
              </a:tr>
              <a:tr h="364451"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Database Integration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30181777"/>
                  </a:ext>
                </a:extLst>
              </a:tr>
              <a:tr h="364451"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Large-Scale Government System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9135214"/>
                  </a:ext>
                </a:extLst>
              </a:tr>
              <a:tr h="364451"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Citizen-Friendly Services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93808731"/>
                  </a:ext>
                </a:extLst>
              </a:tr>
              <a:tr h="364451"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Shared Desktop + Web Structure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✗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✗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✗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50859796"/>
                  </a:ext>
                </a:extLst>
              </a:tr>
              <a:tr h="364451"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Violations and Seizures Management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✗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✗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✗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45720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Segoe UI Symbol" panose="020B0502040204020203" pitchFamily="34" charset="0"/>
                          <a:ea typeface="Calibri" panose="020F0502020204030204" pitchFamily="34" charset="0"/>
                          <a:cs typeface="Segoe UI Symbol" panose="020B0502040204020203" pitchFamily="34" charset="0"/>
                        </a:rPr>
                        <a:t>✓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72851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2100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446CCDB-A8DE-EEEB-008D-2FA534531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158"/>
            <a:ext cx="10515600" cy="21497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Gantt Chart</a:t>
            </a:r>
            <a:endParaRPr lang="ar-SA" sz="4400" dirty="0">
              <a:solidFill>
                <a:srgbClr val="FF0000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pic>
        <p:nvPicPr>
          <p:cNvPr id="6" name="عنصر نائب للمحتوى 5">
            <a:extLst>
              <a:ext uri="{FF2B5EF4-FFF2-40B4-BE49-F238E27FC236}">
                <a16:creationId xmlns:a16="http://schemas.microsoft.com/office/drawing/2014/main" id="{637EEDF8-0C42-B8DE-2AF2-93E54A11FF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981" y="516193"/>
            <a:ext cx="11828206" cy="607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996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93D2803-66D0-CA3F-56E8-54F57E54B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234"/>
            <a:ext cx="10515600" cy="49028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Previous Requirement</a:t>
            </a:r>
            <a:endParaRPr lang="ar-SA" sz="4400" dirty="0">
              <a:solidFill>
                <a:srgbClr val="FF0000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graphicFrame>
        <p:nvGraphicFramePr>
          <p:cNvPr id="4" name="عنصر نائب للمحتوى 3">
            <a:extLst>
              <a:ext uri="{FF2B5EF4-FFF2-40B4-BE49-F238E27FC236}">
                <a16:creationId xmlns:a16="http://schemas.microsoft.com/office/drawing/2014/main" id="{11D4402B-49FF-70D2-39ED-A1B4069B51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1227"/>
              </p:ext>
            </p:extLst>
          </p:nvPr>
        </p:nvGraphicFramePr>
        <p:xfrm>
          <a:off x="334296" y="688258"/>
          <a:ext cx="11455625" cy="6066502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229530">
                  <a:extLst>
                    <a:ext uri="{9D8B030D-6E8A-4147-A177-3AD203B41FA5}">
                      <a16:colId xmlns:a16="http://schemas.microsoft.com/office/drawing/2014/main" val="4289367344"/>
                    </a:ext>
                  </a:extLst>
                </a:gridCol>
                <a:gridCol w="6972337">
                  <a:extLst>
                    <a:ext uri="{9D8B030D-6E8A-4147-A177-3AD203B41FA5}">
                      <a16:colId xmlns:a16="http://schemas.microsoft.com/office/drawing/2014/main" val="4170946841"/>
                    </a:ext>
                  </a:extLst>
                </a:gridCol>
                <a:gridCol w="1994239">
                  <a:extLst>
                    <a:ext uri="{9D8B030D-6E8A-4147-A177-3AD203B41FA5}">
                      <a16:colId xmlns:a16="http://schemas.microsoft.com/office/drawing/2014/main" val="1393986621"/>
                    </a:ext>
                  </a:extLst>
                </a:gridCol>
                <a:gridCol w="1259519">
                  <a:extLst>
                    <a:ext uri="{9D8B030D-6E8A-4147-A177-3AD203B41FA5}">
                      <a16:colId xmlns:a16="http://schemas.microsoft.com/office/drawing/2014/main" val="2723556292"/>
                    </a:ext>
                  </a:extLst>
                </a:gridCol>
              </a:tblGrid>
              <a:tr h="23332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Req ID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      Description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             Category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   Actor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extLst>
                  <a:ext uri="{0D108BD9-81ED-4DB2-BD59-A6C34878D82A}">
                    <a16:rowId xmlns:a16="http://schemas.microsoft.com/office/drawing/2014/main" val="3002417369"/>
                  </a:ext>
                </a:extLst>
              </a:tr>
              <a:tr h="23332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FR-1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 dirty="0">
                          <a:effectLst/>
                        </a:rPr>
                        <a:t>Add a New Person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Person Management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All Employees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extLst>
                  <a:ext uri="{0D108BD9-81ED-4DB2-BD59-A6C34878D82A}">
                    <a16:rowId xmlns:a16="http://schemas.microsoft.com/office/drawing/2014/main" val="3925544750"/>
                  </a:ext>
                </a:extLst>
              </a:tr>
              <a:tr h="23332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FR-2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Update Person Data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Person Management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All Employees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extLst>
                  <a:ext uri="{0D108BD9-81ED-4DB2-BD59-A6C34878D82A}">
                    <a16:rowId xmlns:a16="http://schemas.microsoft.com/office/drawing/2014/main" val="4284932738"/>
                  </a:ext>
                </a:extLst>
              </a:tr>
              <a:tr h="23332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FR-3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Delete Person 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Person Management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All Employees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extLst>
                  <a:ext uri="{0D108BD9-81ED-4DB2-BD59-A6C34878D82A}">
                    <a16:rowId xmlns:a16="http://schemas.microsoft.com/office/drawing/2014/main" val="1671746876"/>
                  </a:ext>
                </a:extLst>
              </a:tr>
              <a:tr h="23332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FR-4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View Person Data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Person Management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All Employees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extLst>
                  <a:ext uri="{0D108BD9-81ED-4DB2-BD59-A6C34878D82A}">
                    <a16:rowId xmlns:a16="http://schemas.microsoft.com/office/drawing/2014/main" val="3531089103"/>
                  </a:ext>
                </a:extLst>
              </a:tr>
              <a:tr h="23332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FR-5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Searching for a Person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Person Management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All Employees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extLst>
                  <a:ext uri="{0D108BD9-81ED-4DB2-BD59-A6C34878D82A}">
                    <a16:rowId xmlns:a16="http://schemas.microsoft.com/office/drawing/2014/main" val="990261762"/>
                  </a:ext>
                </a:extLst>
              </a:tr>
              <a:tr h="23332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FR-6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Delete a Employee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Employee Management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System Admin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extLst>
                  <a:ext uri="{0D108BD9-81ED-4DB2-BD59-A6C34878D82A}">
                    <a16:rowId xmlns:a16="http://schemas.microsoft.com/office/drawing/2014/main" val="531990808"/>
                  </a:ext>
                </a:extLst>
              </a:tr>
              <a:tr h="23332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FR-7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Change their Password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Employee Management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System Admin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extLst>
                  <a:ext uri="{0D108BD9-81ED-4DB2-BD59-A6C34878D82A}">
                    <a16:rowId xmlns:a16="http://schemas.microsoft.com/office/drawing/2014/main" val="3843674900"/>
                  </a:ext>
                </a:extLst>
              </a:tr>
              <a:tr h="23332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FR-8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Create a New Account for Employee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Employee Management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System Admin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extLst>
                  <a:ext uri="{0D108BD9-81ED-4DB2-BD59-A6C34878D82A}">
                    <a16:rowId xmlns:a16="http://schemas.microsoft.com/office/drawing/2014/main" val="2847163011"/>
                  </a:ext>
                </a:extLst>
              </a:tr>
              <a:tr h="23332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FR-9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View Employee Data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Employee Management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System Admin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extLst>
                  <a:ext uri="{0D108BD9-81ED-4DB2-BD59-A6C34878D82A}">
                    <a16:rowId xmlns:a16="http://schemas.microsoft.com/office/drawing/2014/main" val="144888334"/>
                  </a:ext>
                </a:extLst>
              </a:tr>
              <a:tr h="23332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FR-10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Update Employee Data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Employee Management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System Admin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extLst>
                  <a:ext uri="{0D108BD9-81ED-4DB2-BD59-A6C34878D82A}">
                    <a16:rowId xmlns:a16="http://schemas.microsoft.com/office/drawing/2014/main" val="3729253377"/>
                  </a:ext>
                </a:extLst>
              </a:tr>
              <a:tr h="23332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FR-11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Searching for a Employee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Employee Management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System Admin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extLst>
                  <a:ext uri="{0D108BD9-81ED-4DB2-BD59-A6C34878D82A}">
                    <a16:rowId xmlns:a16="http://schemas.microsoft.com/office/drawing/2014/main" val="961493579"/>
                  </a:ext>
                </a:extLst>
              </a:tr>
              <a:tr h="23332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FR-12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Login Accounts for Employees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Employee Management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All Employees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extLst>
                  <a:ext uri="{0D108BD9-81ED-4DB2-BD59-A6C34878D82A}">
                    <a16:rowId xmlns:a16="http://schemas.microsoft.com/office/drawing/2014/main" val="601912588"/>
                  </a:ext>
                </a:extLst>
              </a:tr>
              <a:tr h="23332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FR-13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View Current User Info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Employee Management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All Employees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extLst>
                  <a:ext uri="{0D108BD9-81ED-4DB2-BD59-A6C34878D82A}">
                    <a16:rowId xmlns:a16="http://schemas.microsoft.com/office/drawing/2014/main" val="1398524130"/>
                  </a:ext>
                </a:extLst>
              </a:tr>
              <a:tr h="23332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FR-14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Change Current User's Password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Employee Management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All Employees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extLst>
                  <a:ext uri="{0D108BD9-81ED-4DB2-BD59-A6C34878D82A}">
                    <a16:rowId xmlns:a16="http://schemas.microsoft.com/office/drawing/2014/main" val="149792843"/>
                  </a:ext>
                </a:extLst>
              </a:tr>
              <a:tr h="23332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FR-15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Logout 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Employee Management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All Employees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extLst>
                  <a:ext uri="{0D108BD9-81ED-4DB2-BD59-A6C34878D82A}">
                    <a16:rowId xmlns:a16="http://schemas.microsoft.com/office/drawing/2014/main" val="1773984116"/>
                  </a:ext>
                </a:extLst>
              </a:tr>
              <a:tr h="23332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FR-16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View Applications Type Data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Application Management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System Admin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extLst>
                  <a:ext uri="{0D108BD9-81ED-4DB2-BD59-A6C34878D82A}">
                    <a16:rowId xmlns:a16="http://schemas.microsoft.com/office/drawing/2014/main" val="731773347"/>
                  </a:ext>
                </a:extLst>
              </a:tr>
              <a:tr h="23332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FR-17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Edit Applications Types 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Application Management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System Admin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extLst>
                  <a:ext uri="{0D108BD9-81ED-4DB2-BD59-A6C34878D82A}">
                    <a16:rowId xmlns:a16="http://schemas.microsoft.com/office/drawing/2014/main" val="2330823657"/>
                  </a:ext>
                </a:extLst>
              </a:tr>
              <a:tr h="23332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FR-18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View Application Info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Application Management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All Employees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extLst>
                  <a:ext uri="{0D108BD9-81ED-4DB2-BD59-A6C34878D82A}">
                    <a16:rowId xmlns:a16="http://schemas.microsoft.com/office/drawing/2014/main" val="59930116"/>
                  </a:ext>
                </a:extLst>
              </a:tr>
              <a:tr h="23332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FR-19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Request a New Local License Application for a Person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Application Management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All Employees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extLst>
                  <a:ext uri="{0D108BD9-81ED-4DB2-BD59-A6C34878D82A}">
                    <a16:rowId xmlns:a16="http://schemas.microsoft.com/office/drawing/2014/main" val="187605781"/>
                  </a:ext>
                </a:extLst>
              </a:tr>
              <a:tr h="23332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FR-20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Delete Local License Application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Application Management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All Employees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extLst>
                  <a:ext uri="{0D108BD9-81ED-4DB2-BD59-A6C34878D82A}">
                    <a16:rowId xmlns:a16="http://schemas.microsoft.com/office/drawing/2014/main" val="2214574731"/>
                  </a:ext>
                </a:extLst>
              </a:tr>
              <a:tr h="23332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FR-21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Cancel Local License Application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Application Management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All Employees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extLst>
                  <a:ext uri="{0D108BD9-81ED-4DB2-BD59-A6C34878D82A}">
                    <a16:rowId xmlns:a16="http://schemas.microsoft.com/office/drawing/2014/main" val="3474607520"/>
                  </a:ext>
                </a:extLst>
              </a:tr>
              <a:tr h="23332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FR-22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Edit Local License Application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Application Management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All Employees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extLst>
                  <a:ext uri="{0D108BD9-81ED-4DB2-BD59-A6C34878D82A}">
                    <a16:rowId xmlns:a16="http://schemas.microsoft.com/office/drawing/2014/main" val="528066510"/>
                  </a:ext>
                </a:extLst>
              </a:tr>
              <a:tr h="23332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FR-23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Searching for a Request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Application Management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All Employees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extLst>
                  <a:ext uri="{0D108BD9-81ED-4DB2-BD59-A6C34878D82A}">
                    <a16:rowId xmlns:a16="http://schemas.microsoft.com/office/drawing/2014/main" val="2826470846"/>
                  </a:ext>
                </a:extLst>
              </a:tr>
              <a:tr h="23332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NFR-1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The System Should have User-Friendly Interface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Non Functional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ar-SA" sz="1050" b="0" u="none" strike="noStrike">
                          <a:effectLst/>
                        </a:rPr>
                        <a:t> - </a:t>
                      </a:r>
                      <a:endParaRPr lang="ar-SA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extLst>
                  <a:ext uri="{0D108BD9-81ED-4DB2-BD59-A6C34878D82A}">
                    <a16:rowId xmlns:a16="http://schemas.microsoft.com/office/drawing/2014/main" val="171125184"/>
                  </a:ext>
                </a:extLst>
              </a:tr>
              <a:tr h="23332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NFR-2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The System Should Store Data Securely Using Encryption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50" b="0" u="none" strike="noStrike">
                          <a:effectLst/>
                        </a:rPr>
                        <a:t>Non Functional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ar-SA" sz="1050" b="0" u="none" strike="noStrike" dirty="0">
                          <a:effectLst/>
                        </a:rPr>
                        <a:t>-</a:t>
                      </a:r>
                      <a:endParaRPr lang="ar-SA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45" marR="5745" marT="5745" marB="0" anchor="ctr"/>
                </a:tc>
                <a:extLst>
                  <a:ext uri="{0D108BD9-81ED-4DB2-BD59-A6C34878D82A}">
                    <a16:rowId xmlns:a16="http://schemas.microsoft.com/office/drawing/2014/main" val="2725410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9772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67CE3D8-919C-7C00-E2ED-8E251F3B1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542" y="44908"/>
            <a:ext cx="10515600" cy="29363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New Requirement</a:t>
            </a:r>
            <a:endParaRPr lang="ar-SA" sz="4400" dirty="0"/>
          </a:p>
        </p:txBody>
      </p:sp>
      <p:graphicFrame>
        <p:nvGraphicFramePr>
          <p:cNvPr id="6" name="عنصر نائب للمحتوى 5">
            <a:extLst>
              <a:ext uri="{FF2B5EF4-FFF2-40B4-BE49-F238E27FC236}">
                <a16:creationId xmlns:a16="http://schemas.microsoft.com/office/drawing/2014/main" id="{6B6F16C0-70AC-022D-5AA0-EB56416958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4753114"/>
              </p:ext>
            </p:extLst>
          </p:nvPr>
        </p:nvGraphicFramePr>
        <p:xfrm>
          <a:off x="570271" y="442452"/>
          <a:ext cx="11213435" cy="6223815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938267">
                  <a:extLst>
                    <a:ext uri="{9D8B030D-6E8A-4147-A177-3AD203B41FA5}">
                      <a16:colId xmlns:a16="http://schemas.microsoft.com/office/drawing/2014/main" val="4169698812"/>
                    </a:ext>
                  </a:extLst>
                </a:gridCol>
                <a:gridCol w="7334505">
                  <a:extLst>
                    <a:ext uri="{9D8B030D-6E8A-4147-A177-3AD203B41FA5}">
                      <a16:colId xmlns:a16="http://schemas.microsoft.com/office/drawing/2014/main" val="598319434"/>
                    </a:ext>
                  </a:extLst>
                </a:gridCol>
                <a:gridCol w="1784995">
                  <a:extLst>
                    <a:ext uri="{9D8B030D-6E8A-4147-A177-3AD203B41FA5}">
                      <a16:colId xmlns:a16="http://schemas.microsoft.com/office/drawing/2014/main" val="3918513768"/>
                    </a:ext>
                  </a:extLst>
                </a:gridCol>
                <a:gridCol w="1155668">
                  <a:extLst>
                    <a:ext uri="{9D8B030D-6E8A-4147-A177-3AD203B41FA5}">
                      <a16:colId xmlns:a16="http://schemas.microsoft.com/office/drawing/2014/main" val="3248776425"/>
                    </a:ext>
                  </a:extLst>
                </a:gridCol>
              </a:tblGrid>
              <a:tr h="41492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FR-24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the System Should Allow Admin to View Test Type Data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Test Management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Admin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extLst>
                  <a:ext uri="{0D108BD9-81ED-4DB2-BD59-A6C34878D82A}">
                    <a16:rowId xmlns:a16="http://schemas.microsoft.com/office/drawing/2014/main" val="279393700"/>
                  </a:ext>
                </a:extLst>
              </a:tr>
              <a:tr h="41492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FR-25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the System should Allow Admin to Edit Test Types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Test Management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Admin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extLst>
                  <a:ext uri="{0D108BD9-81ED-4DB2-BD59-A6C34878D82A}">
                    <a16:rowId xmlns:a16="http://schemas.microsoft.com/office/drawing/2014/main" val="3735465924"/>
                  </a:ext>
                </a:extLst>
              </a:tr>
              <a:tr h="41492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FR-26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the System Should Allow Test officer to Schedule Vision Test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Test Management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Test officer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extLst>
                  <a:ext uri="{0D108BD9-81ED-4DB2-BD59-A6C34878D82A}">
                    <a16:rowId xmlns:a16="http://schemas.microsoft.com/office/drawing/2014/main" val="2460139250"/>
                  </a:ext>
                </a:extLst>
              </a:tr>
              <a:tr h="41492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FR-27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the System should allow test officer to Edit the appointment for vision test 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Test Management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Test officer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extLst>
                  <a:ext uri="{0D108BD9-81ED-4DB2-BD59-A6C34878D82A}">
                    <a16:rowId xmlns:a16="http://schemas.microsoft.com/office/drawing/2014/main" val="2512146147"/>
                  </a:ext>
                </a:extLst>
              </a:tr>
              <a:tr h="41492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FR-28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the system should allow test officder to put result of vision test 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Test Management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Test officer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extLst>
                  <a:ext uri="{0D108BD9-81ED-4DB2-BD59-A6C34878D82A}">
                    <a16:rowId xmlns:a16="http://schemas.microsoft.com/office/drawing/2014/main" val="112750801"/>
                  </a:ext>
                </a:extLst>
              </a:tr>
              <a:tr h="41492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FR-29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the System Should Allow Test officer to Schedule written Test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Test Management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Test officer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extLst>
                  <a:ext uri="{0D108BD9-81ED-4DB2-BD59-A6C34878D82A}">
                    <a16:rowId xmlns:a16="http://schemas.microsoft.com/office/drawing/2014/main" val="1532704208"/>
                  </a:ext>
                </a:extLst>
              </a:tr>
              <a:tr h="41492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FR-30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the System should allow test officer to Edit the appointment for written test test 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Test Management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Test officer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extLst>
                  <a:ext uri="{0D108BD9-81ED-4DB2-BD59-A6C34878D82A}">
                    <a16:rowId xmlns:a16="http://schemas.microsoft.com/office/drawing/2014/main" val="2181754725"/>
                  </a:ext>
                </a:extLst>
              </a:tr>
              <a:tr h="41492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FR-31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the system should allow test officer to put result of written test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Test Management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Test officer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extLst>
                  <a:ext uri="{0D108BD9-81ED-4DB2-BD59-A6C34878D82A}">
                    <a16:rowId xmlns:a16="http://schemas.microsoft.com/office/drawing/2014/main" val="2979878106"/>
                  </a:ext>
                </a:extLst>
              </a:tr>
              <a:tr h="41492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FR-32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the system should allow test officer to schedule street test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Test Management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Test officer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extLst>
                  <a:ext uri="{0D108BD9-81ED-4DB2-BD59-A6C34878D82A}">
                    <a16:rowId xmlns:a16="http://schemas.microsoft.com/office/drawing/2014/main" val="1277968601"/>
                  </a:ext>
                </a:extLst>
              </a:tr>
              <a:tr h="41492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FR-33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the system should allow test officer to edit the appointment for street test 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Test Management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Test officer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extLst>
                  <a:ext uri="{0D108BD9-81ED-4DB2-BD59-A6C34878D82A}">
                    <a16:rowId xmlns:a16="http://schemas.microsoft.com/office/drawing/2014/main" val="3475747823"/>
                  </a:ext>
                </a:extLst>
              </a:tr>
              <a:tr h="41492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FR-34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the system should allow test officer to put result of street test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Test Management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Test officer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extLst>
                  <a:ext uri="{0D108BD9-81ED-4DB2-BD59-A6C34878D82A}">
                    <a16:rowId xmlns:a16="http://schemas.microsoft.com/office/drawing/2014/main" val="2122751304"/>
                  </a:ext>
                </a:extLst>
              </a:tr>
              <a:tr h="41492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FR-35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the system should allow license officer to create First Time license for person 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license Management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license officer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extLst>
                  <a:ext uri="{0D108BD9-81ED-4DB2-BD59-A6C34878D82A}">
                    <a16:rowId xmlns:a16="http://schemas.microsoft.com/office/drawing/2014/main" val="1370185518"/>
                  </a:ext>
                </a:extLst>
              </a:tr>
              <a:tr h="41492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FR-36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the system should allow license officer to view license information 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license Management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license officer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extLst>
                  <a:ext uri="{0D108BD9-81ED-4DB2-BD59-A6C34878D82A}">
                    <a16:rowId xmlns:a16="http://schemas.microsoft.com/office/drawing/2014/main" val="1346035990"/>
                  </a:ext>
                </a:extLst>
              </a:tr>
              <a:tr h="41492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FR-37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the system should allow citizen to Create Application for local license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citizen management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Citizen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extLst>
                  <a:ext uri="{0D108BD9-81ED-4DB2-BD59-A6C34878D82A}">
                    <a16:rowId xmlns:a16="http://schemas.microsoft.com/office/drawing/2014/main" val="3692170992"/>
                  </a:ext>
                </a:extLst>
              </a:tr>
              <a:tr h="41492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FR-38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the system should allow citizen to view his Application info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citizen management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Citizen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79" marR="4479" marT="4479" marB="0" anchor="ctr"/>
                </a:tc>
                <a:extLst>
                  <a:ext uri="{0D108BD9-81ED-4DB2-BD59-A6C34878D82A}">
                    <a16:rowId xmlns:a16="http://schemas.microsoft.com/office/drawing/2014/main" val="2858461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4698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FF4980A-6BC9-4773-2282-71C3D499D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312"/>
            <a:ext cx="10515600" cy="63776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Book Antiqua" panose="02040602050305030304" pitchFamily="18" charset="0"/>
              </a:rPr>
              <a:t>Product Backlog</a:t>
            </a:r>
            <a:endParaRPr lang="ar-SA" dirty="0">
              <a:solidFill>
                <a:srgbClr val="FF0000"/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71764C74-6704-C975-8ADB-AC6673DF8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71" y="884903"/>
            <a:ext cx="11739716" cy="5702710"/>
          </a:xfrm>
        </p:spPr>
        <p:txBody>
          <a:bodyPr>
            <a:normAutofit fontScale="70000" lnSpcReduction="20000"/>
          </a:bodyPr>
          <a:lstStyle/>
          <a:p>
            <a:pPr algn="l" rtl="0">
              <a:lnSpc>
                <a:spcPct val="120000"/>
              </a:lnSpc>
            </a:pPr>
            <a:r>
              <a:rPr lang="en-US" dirty="0"/>
              <a:t>01- As a license officer, I want to add a new person so that I can register their information in the system.</a:t>
            </a:r>
          </a:p>
          <a:p>
            <a:pPr algn="l" rtl="0">
              <a:lnSpc>
                <a:spcPct val="120000"/>
              </a:lnSpc>
            </a:pPr>
            <a:r>
              <a:rPr lang="en-US" dirty="0"/>
              <a:t>02- As a license officer, I want to edit an existing person’s information so that I can correct or update their data.</a:t>
            </a:r>
          </a:p>
          <a:p>
            <a:pPr algn="l" rtl="0">
              <a:lnSpc>
                <a:spcPct val="120000"/>
              </a:lnSpc>
            </a:pPr>
            <a:r>
              <a:rPr lang="en-US" dirty="0"/>
              <a:t>03- As a license officer, I want to view a person’s information so that I can verify their details.</a:t>
            </a:r>
          </a:p>
          <a:p>
            <a:pPr algn="l" rtl="0">
              <a:lnSpc>
                <a:spcPct val="120000"/>
              </a:lnSpc>
            </a:pPr>
            <a:r>
              <a:rPr lang="en-US" dirty="0"/>
              <a:t>04- As a license officer, I want to delete a person so that I can remove unnecessary records.</a:t>
            </a:r>
          </a:p>
          <a:p>
            <a:pPr algn="l" rtl="0">
              <a:lnSpc>
                <a:spcPct val="120000"/>
              </a:lnSpc>
            </a:pPr>
            <a:r>
              <a:rPr lang="en-US" dirty="0"/>
              <a:t>05- As a license officer, I want to filter people by name or national No ........ so that I can quickly find the required person.</a:t>
            </a:r>
          </a:p>
          <a:p>
            <a:pPr algn="l" rtl="0">
              <a:lnSpc>
                <a:spcPct val="120000"/>
              </a:lnSpc>
            </a:pPr>
            <a:r>
              <a:rPr lang="en-US" dirty="0"/>
              <a:t>06- As an admin, I want to create an account for a new employee so that they can access the system</a:t>
            </a:r>
            <a:r>
              <a:rPr lang="en-US" b="1" dirty="0"/>
              <a:t>.</a:t>
            </a:r>
            <a:endParaRPr lang="en-US" dirty="0"/>
          </a:p>
          <a:p>
            <a:pPr algn="l" rtl="0">
              <a:lnSpc>
                <a:spcPct val="120000"/>
              </a:lnSpc>
            </a:pPr>
            <a:r>
              <a:rPr lang="en-US" dirty="0"/>
              <a:t>07- As an admin, I want to update employee information so that I can ensure their records remain accurate and current.</a:t>
            </a:r>
          </a:p>
          <a:p>
            <a:pPr algn="l" rtl="0">
              <a:lnSpc>
                <a:spcPct val="120000"/>
              </a:lnSpc>
            </a:pPr>
            <a:r>
              <a:rPr lang="en-US" dirty="0"/>
              <a:t>08- As an admin, I want to view employee information so that I can verify their details</a:t>
            </a:r>
            <a:r>
              <a:rPr lang="en-US" b="1" dirty="0"/>
              <a:t>.</a:t>
            </a:r>
            <a:endParaRPr lang="en-US" dirty="0"/>
          </a:p>
          <a:p>
            <a:pPr algn="l" rtl="0">
              <a:lnSpc>
                <a:spcPct val="120000"/>
              </a:lnSpc>
            </a:pPr>
            <a:r>
              <a:rPr lang="en-US" dirty="0"/>
              <a:t>09- As a manager, I want to delete an employee so that I can ensure system security and prevent unauthorized access after they leave.</a:t>
            </a:r>
          </a:p>
          <a:p>
            <a:pPr algn="l" rtl="0">
              <a:lnSpc>
                <a:spcPct val="120000"/>
              </a:lnSpc>
            </a:pPr>
            <a:r>
              <a:rPr lang="en-US" dirty="0"/>
              <a:t>10- As an admin, I want to filter employees so that I can quickly find the required employee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368583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عنصر نائب للمحتوى 6">
            <a:extLst>
              <a:ext uri="{FF2B5EF4-FFF2-40B4-BE49-F238E27FC236}">
                <a16:creationId xmlns:a16="http://schemas.microsoft.com/office/drawing/2014/main" id="{B01A7F71-5AC2-4DB3-9961-9E8C0EBE8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55" y="324465"/>
            <a:ext cx="11474245" cy="6272980"/>
          </a:xfrm>
        </p:spPr>
        <p:txBody>
          <a:bodyPr>
            <a:normAutofit fontScale="62500" lnSpcReduction="20000"/>
          </a:bodyPr>
          <a:lstStyle/>
          <a:p>
            <a:pPr algn="l" rtl="0">
              <a:lnSpc>
                <a:spcPct val="170000"/>
              </a:lnSpc>
            </a:pPr>
            <a:r>
              <a:rPr lang="en-US" dirty="0"/>
              <a:t>11- As an admin, I want to change employee’s password so that I can keep their account secure.</a:t>
            </a:r>
          </a:p>
          <a:p>
            <a:pPr algn="l" rtl="0">
              <a:lnSpc>
                <a:spcPct val="170000"/>
              </a:lnSpc>
            </a:pPr>
            <a:r>
              <a:rPr lang="en-US" dirty="0"/>
              <a:t>12- As a system user, I want to log in so that I can access the system.</a:t>
            </a:r>
          </a:p>
          <a:p>
            <a:pPr algn="l" rtl="0">
              <a:lnSpc>
                <a:spcPct val="170000"/>
              </a:lnSpc>
            </a:pPr>
            <a:r>
              <a:rPr lang="en-US" dirty="0"/>
              <a:t>13- As a system user, I want to view my account information so that I can verify my personal details.</a:t>
            </a:r>
          </a:p>
          <a:p>
            <a:pPr algn="l" rtl="0">
              <a:lnSpc>
                <a:spcPct val="170000"/>
              </a:lnSpc>
            </a:pPr>
            <a:r>
              <a:rPr lang="en-US" dirty="0"/>
              <a:t>14- As a system user, I want to change my password from my account page so that I can maintain security.</a:t>
            </a:r>
          </a:p>
          <a:p>
            <a:pPr algn="l" rtl="0">
              <a:lnSpc>
                <a:spcPct val="170000"/>
              </a:lnSpc>
            </a:pPr>
            <a:r>
              <a:rPr lang="en-US" dirty="0"/>
              <a:t>15- As a system user, I want to log out so that I can end my current session. </a:t>
            </a:r>
          </a:p>
          <a:p>
            <a:pPr algn="l" rtl="0">
              <a:lnSpc>
                <a:spcPct val="170000"/>
              </a:lnSpc>
            </a:pPr>
            <a:r>
              <a:rPr lang="en-US" dirty="0"/>
              <a:t>16- </a:t>
            </a:r>
            <a:r>
              <a:rPr lang="en-US" b="1" dirty="0"/>
              <a:t>As an admin, I want to manage application types so that I can efficiently monitor categories and quickly update their details to keep the system running smoothly</a:t>
            </a:r>
            <a:r>
              <a:rPr lang="en-US" dirty="0"/>
              <a:t>.</a:t>
            </a:r>
          </a:p>
          <a:p>
            <a:pPr algn="l" rtl="0">
              <a:lnSpc>
                <a:spcPct val="170000"/>
              </a:lnSpc>
            </a:pPr>
            <a:r>
              <a:rPr lang="en-US" dirty="0"/>
              <a:t>17- As a license officer, I want to view application information so that I can verify details.</a:t>
            </a:r>
          </a:p>
          <a:p>
            <a:pPr algn="l" rtl="0">
              <a:lnSpc>
                <a:spcPct val="170000"/>
              </a:lnSpc>
            </a:pPr>
            <a:r>
              <a:rPr lang="en-US" dirty="0"/>
              <a:t>18- As a license officer, I want to submit a local driving license request for a person so that they can obtain a local license.</a:t>
            </a:r>
          </a:p>
          <a:p>
            <a:pPr algn="l" rtl="0">
              <a:lnSpc>
                <a:spcPct val="170000"/>
              </a:lnSpc>
            </a:pPr>
            <a:r>
              <a:rPr lang="en-US" dirty="0"/>
              <a:t>19- As a license officer, I want to delete a local license application so that I can remove unnecessary requests.</a:t>
            </a:r>
          </a:p>
          <a:p>
            <a:pPr algn="l" rtl="0">
              <a:lnSpc>
                <a:spcPct val="170000"/>
              </a:lnSpc>
            </a:pPr>
            <a:r>
              <a:rPr lang="en-US" dirty="0"/>
              <a:t>20- As a license officer, I want to cancel a local license application so that I can stop the process if no longer needed.</a:t>
            </a:r>
          </a:p>
        </p:txBody>
      </p:sp>
    </p:spTree>
    <p:extLst>
      <p:ext uri="{BB962C8B-B14F-4D97-AF65-F5344CB8AC3E}">
        <p14:creationId xmlns:p14="http://schemas.microsoft.com/office/powerpoint/2010/main" val="275434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5C189305-FF0A-175B-CB93-D96C40B88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32" y="245806"/>
            <a:ext cx="11651226" cy="6410633"/>
          </a:xfrm>
        </p:spPr>
        <p:txBody>
          <a:bodyPr>
            <a:normAutofit fontScale="62500" lnSpcReduction="20000"/>
          </a:bodyPr>
          <a:lstStyle/>
          <a:p>
            <a:pPr algn="l" rtl="0">
              <a:lnSpc>
                <a:spcPct val="160000"/>
              </a:lnSpc>
            </a:pPr>
            <a:r>
              <a:rPr lang="en-US" dirty="0"/>
              <a:t>21- As a license officer, I want to edit a local license application so that I can change the license class of this application.</a:t>
            </a:r>
          </a:p>
          <a:p>
            <a:pPr algn="l" rtl="0">
              <a:lnSpc>
                <a:spcPct val="160000"/>
              </a:lnSpc>
            </a:pPr>
            <a:r>
              <a:rPr lang="en-US" dirty="0"/>
              <a:t>22- As an employee, I want to filter applications by person’s name or status ..... so that I can quickly find the required application.</a:t>
            </a:r>
          </a:p>
          <a:p>
            <a:pPr algn="l" rtl="0">
              <a:lnSpc>
                <a:spcPct val="160000"/>
              </a:lnSpc>
            </a:pPr>
            <a:r>
              <a:rPr lang="en-US" b="1" dirty="0"/>
              <a:t>23 – as an admin, I want to manage test types so that the system maintains accurate and up-to-date information about available tests.</a:t>
            </a:r>
            <a:endParaRPr lang="en-US" dirty="0"/>
          </a:p>
          <a:p>
            <a:pPr algn="l" rtl="0">
              <a:lnSpc>
                <a:spcPct val="160000"/>
              </a:lnSpc>
            </a:pPr>
            <a:r>
              <a:rPr lang="en-US" b="1" dirty="0"/>
              <a:t>24 - as a test officer, I want to manage vision, written, and street tests so that applicants can complete the required examinations and their results are properly recorded</a:t>
            </a:r>
            <a:endParaRPr lang="en-US" dirty="0"/>
          </a:p>
          <a:p>
            <a:pPr algn="l" rtl="0">
              <a:lnSpc>
                <a:spcPct val="160000"/>
              </a:lnSpc>
            </a:pPr>
            <a:r>
              <a:rPr lang="en-US" dirty="0"/>
              <a:t>25- as a license officer, I want to create a first-time driving license for a person so that qualified applicants can legally drive</a:t>
            </a:r>
          </a:p>
          <a:p>
            <a:pPr algn="l" rtl="0">
              <a:lnSpc>
                <a:spcPct val="160000"/>
              </a:lnSpc>
            </a:pPr>
            <a:r>
              <a:rPr lang="en-US" dirty="0"/>
              <a:t>26- as a license officer, I want to view license information so that I can verify license details when needed</a:t>
            </a:r>
          </a:p>
          <a:p>
            <a:pPr algn="l" rtl="0">
              <a:lnSpc>
                <a:spcPct val="160000"/>
              </a:lnSpc>
            </a:pPr>
            <a:r>
              <a:rPr lang="en-US" dirty="0"/>
              <a:t>27- as a citizen, I want to create an application for a local license so that I can start the licensing process</a:t>
            </a:r>
          </a:p>
          <a:p>
            <a:pPr algn="l" rtl="0">
              <a:lnSpc>
                <a:spcPct val="160000"/>
              </a:lnSpc>
            </a:pPr>
            <a:r>
              <a:rPr lang="en-US" dirty="0"/>
              <a:t>28- as a citizen, I want to view my application information so that I can track the progress and details of my application.</a:t>
            </a:r>
          </a:p>
        </p:txBody>
      </p:sp>
    </p:spTree>
    <p:extLst>
      <p:ext uri="{BB962C8B-B14F-4D97-AF65-F5344CB8AC3E}">
        <p14:creationId xmlns:p14="http://schemas.microsoft.com/office/powerpoint/2010/main" val="1274219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0013C8AC-E5B6-179E-40CF-D6F3B98CB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923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Book Antiqua" panose="02040602050305030304" pitchFamily="18" charset="0"/>
              </a:rPr>
              <a:t>Sprint {4} Backlog</a:t>
            </a:r>
            <a:br>
              <a:rPr lang="en-US" dirty="0">
                <a:solidFill>
                  <a:srgbClr val="FF0000"/>
                </a:solidFill>
                <a:latin typeface="Book Antiqua" panose="02040602050305030304" pitchFamily="18" charset="0"/>
              </a:rPr>
            </a:br>
            <a:endParaRPr lang="ar-SA" dirty="0">
              <a:solidFill>
                <a:srgbClr val="FF0000"/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4F8684A5-6B4E-2EC6-6A94-26EAC3D92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8697"/>
            <a:ext cx="10665542" cy="4928266"/>
          </a:xfrm>
        </p:spPr>
        <p:txBody>
          <a:bodyPr>
            <a:normAutofit/>
          </a:bodyPr>
          <a:lstStyle/>
          <a:p>
            <a:pPr marL="0" indent="0" algn="l" rtl="0">
              <a:lnSpc>
                <a:spcPct val="160000"/>
              </a:lnSpc>
              <a:buNone/>
            </a:pPr>
            <a:r>
              <a:rPr lang="en-US" sz="1600" dirty="0"/>
              <a:t>1- as an admin, I want to view test type data so that I can review and monitor the available types of driving tests in the system.</a:t>
            </a:r>
          </a:p>
          <a:p>
            <a:pPr marL="0" indent="0" algn="l" rtl="0">
              <a:lnSpc>
                <a:spcPct val="160000"/>
              </a:lnSpc>
              <a:buNone/>
            </a:pPr>
            <a:r>
              <a:rPr lang="en-US" sz="1600" b="1" dirty="0"/>
              <a:t>Acceptance Criteria:</a:t>
            </a:r>
            <a:endParaRPr lang="en-US" sz="1600" dirty="0"/>
          </a:p>
          <a:p>
            <a:pPr marL="0" indent="0" algn="l" rtl="0">
              <a:lnSpc>
                <a:spcPct val="160000"/>
              </a:lnSpc>
              <a:buNone/>
            </a:pPr>
            <a:r>
              <a:rPr lang="en-US" sz="1600" dirty="0"/>
              <a:t>    - system displays a list of all test types.</a:t>
            </a:r>
            <a:br>
              <a:rPr lang="en-US" sz="1600" dirty="0"/>
            </a:br>
            <a:r>
              <a:rPr lang="en-US" sz="1600" dirty="0"/>
              <a:t>    - Each test type shows test name and description.</a:t>
            </a:r>
            <a:br>
              <a:rPr lang="en-US" sz="1600" dirty="0"/>
            </a:br>
            <a:r>
              <a:rPr lang="en-US" sz="1600" dirty="0"/>
              <a:t>    - just Admin can open a test type to view its details.</a:t>
            </a:r>
          </a:p>
          <a:p>
            <a:pPr marL="0" indent="0" algn="l" rtl="0">
              <a:lnSpc>
                <a:spcPct val="160000"/>
              </a:lnSpc>
              <a:buNone/>
            </a:pPr>
            <a:r>
              <a:rPr lang="en-US" sz="1600" dirty="0"/>
              <a:t>2- as an admin, I want to update test type information so that the system maintains accurate and up-to-date test definitions.</a:t>
            </a:r>
          </a:p>
          <a:p>
            <a:pPr marL="0" indent="0" algn="l" rtl="0">
              <a:lnSpc>
                <a:spcPct val="160000"/>
              </a:lnSpc>
              <a:buNone/>
            </a:pPr>
            <a:r>
              <a:rPr lang="en-US" sz="1600" b="1" dirty="0"/>
              <a:t>Acceptance Criteria:</a:t>
            </a:r>
            <a:endParaRPr lang="en-US" sz="1600" dirty="0"/>
          </a:p>
          <a:p>
            <a:pPr marL="0" indent="0" algn="l" rtl="0">
              <a:lnSpc>
                <a:spcPct val="160000"/>
              </a:lnSpc>
              <a:buNone/>
            </a:pPr>
            <a:r>
              <a:rPr lang="en-US" sz="1600" dirty="0"/>
              <a:t>    - Input fields: Test name, description , price.</a:t>
            </a:r>
            <a:br>
              <a:rPr lang="en-US" sz="1600" dirty="0"/>
            </a:br>
            <a:r>
              <a:rPr lang="en-US" sz="1600" dirty="0"/>
              <a:t>    - Test name must not be empty.</a:t>
            </a:r>
            <a:br>
              <a:rPr lang="en-US" sz="1600" dirty="0"/>
            </a:br>
            <a:r>
              <a:rPr lang="en-US" sz="1600" dirty="0"/>
              <a:t>    - Success message appears after updating the test type.</a:t>
            </a:r>
          </a:p>
        </p:txBody>
      </p:sp>
    </p:spTree>
    <p:extLst>
      <p:ext uri="{BB962C8B-B14F-4D97-AF65-F5344CB8AC3E}">
        <p14:creationId xmlns:p14="http://schemas.microsoft.com/office/powerpoint/2010/main" val="4276724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E66683A1-1B36-F5D8-F400-88FED6306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626" y="98323"/>
            <a:ext cx="11670890" cy="6410632"/>
          </a:xfrm>
        </p:spPr>
        <p:txBody>
          <a:bodyPr>
            <a:noAutofit/>
          </a:bodyPr>
          <a:lstStyle/>
          <a:p>
            <a:pPr marL="0" indent="0" algn="l" rtl="0">
              <a:lnSpc>
                <a:spcPct val="150000"/>
              </a:lnSpc>
              <a:buNone/>
            </a:pPr>
            <a:r>
              <a:rPr lang="en-US" sz="1400" dirty="0"/>
              <a:t>3- as a test officer, I want to schedule a vision test for an applicant so that the applicant can complete the required vision examination.</a:t>
            </a:r>
          </a:p>
          <a:p>
            <a:pPr marL="0" indent="0" algn="l" rtl="0">
              <a:lnSpc>
                <a:spcPct val="150000"/>
              </a:lnSpc>
              <a:buNone/>
            </a:pPr>
            <a:r>
              <a:rPr lang="en-US" sz="1400" b="1" dirty="0"/>
              <a:t>Acceptance Criteria:</a:t>
            </a:r>
            <a:endParaRPr lang="en-US" sz="1400" dirty="0"/>
          </a:p>
          <a:p>
            <a:pPr marL="0" indent="0" algn="l" rtl="0">
              <a:lnSpc>
                <a:spcPct val="150000"/>
              </a:lnSpc>
              <a:buNone/>
            </a:pPr>
            <a:r>
              <a:rPr lang="en-US" sz="1400" dirty="0"/>
              <a:t>    - applicant must have a valid application.</a:t>
            </a:r>
            <a:br>
              <a:rPr lang="en-US" sz="1400" dirty="0"/>
            </a:br>
            <a:r>
              <a:rPr lang="en-US" sz="1400" dirty="0"/>
              <a:t>    - System saves the vision test appointment.</a:t>
            </a:r>
            <a:br>
              <a:rPr lang="en-US" sz="1400" dirty="0"/>
            </a:br>
            <a:r>
              <a:rPr lang="en-US" sz="1400" dirty="0"/>
              <a:t>    - Success message appears after scheduling the test.</a:t>
            </a:r>
          </a:p>
          <a:p>
            <a:pPr marL="0" indent="0" algn="l" rtl="0">
              <a:lnSpc>
                <a:spcPct val="150000"/>
              </a:lnSpc>
              <a:buNone/>
            </a:pPr>
            <a:r>
              <a:rPr lang="en-US" sz="1400" dirty="0"/>
              <a:t>4- as a test officer, I want to modify the appointment of a vision test so that scheduling conflicts or changes can be handled properly.</a:t>
            </a:r>
          </a:p>
          <a:p>
            <a:pPr marL="0" indent="0" algn="l" rtl="0">
              <a:lnSpc>
                <a:spcPct val="150000"/>
              </a:lnSpc>
              <a:buNone/>
            </a:pPr>
            <a:r>
              <a:rPr lang="en-US" sz="1400" b="1" dirty="0"/>
              <a:t>Acceptance Criteria:</a:t>
            </a:r>
            <a:endParaRPr lang="en-US" sz="1400" dirty="0"/>
          </a:p>
          <a:p>
            <a:pPr marL="0" indent="0" algn="l" rtl="0">
              <a:lnSpc>
                <a:spcPct val="150000"/>
              </a:lnSpc>
              <a:buNone/>
            </a:pPr>
            <a:r>
              <a:rPr lang="en-US" sz="1400" dirty="0"/>
              <a:t>    - System allows editing an existing vision test appointment.</a:t>
            </a:r>
          </a:p>
          <a:p>
            <a:pPr marL="0" indent="0" algn="l" rtl="0">
              <a:lnSpc>
                <a:spcPct val="150000"/>
              </a:lnSpc>
              <a:buNone/>
            </a:pPr>
            <a:r>
              <a:rPr lang="en-US" sz="1400" dirty="0"/>
              <a:t>    - New date should be greater than old date</a:t>
            </a:r>
            <a:br>
              <a:rPr lang="en-US" sz="1400" dirty="0"/>
            </a:br>
            <a:r>
              <a:rPr lang="en-US" sz="1400" dirty="0"/>
              <a:t>    - Updated information is saved successfully.</a:t>
            </a:r>
            <a:br>
              <a:rPr lang="en-US" sz="1400" dirty="0"/>
            </a:br>
            <a:r>
              <a:rPr lang="en-US" sz="1400" dirty="0"/>
              <a:t>    - Success message appears after updating the appointment.</a:t>
            </a:r>
          </a:p>
          <a:p>
            <a:pPr marL="0" indent="0" algn="l" rtl="0">
              <a:lnSpc>
                <a:spcPct val="150000"/>
              </a:lnSpc>
              <a:buNone/>
            </a:pPr>
            <a:r>
              <a:rPr lang="en-US" sz="1400" dirty="0"/>
              <a:t>5- as a test officer, I want to record the result of a vision test so that the system can determine whether the applicant passed the vision requirement.</a:t>
            </a:r>
          </a:p>
          <a:p>
            <a:pPr marL="0" indent="0" algn="l" rtl="0">
              <a:lnSpc>
                <a:spcPct val="150000"/>
              </a:lnSpc>
              <a:buNone/>
            </a:pPr>
            <a:r>
              <a:rPr lang="en-US" sz="1400" b="1" dirty="0"/>
              <a:t>Acceptance Criteria:</a:t>
            </a:r>
            <a:endParaRPr lang="en-US" sz="1400" dirty="0"/>
          </a:p>
          <a:p>
            <a:pPr marL="0" indent="0" algn="l" rtl="0">
              <a:lnSpc>
                <a:spcPct val="150000"/>
              </a:lnSpc>
              <a:buNone/>
            </a:pPr>
            <a:r>
              <a:rPr lang="en-US" sz="1400" dirty="0"/>
              <a:t>Input fields: Test result (Pass / Fail).</a:t>
            </a:r>
            <a:br>
              <a:rPr lang="en-US" sz="1400" dirty="0"/>
            </a:br>
            <a:r>
              <a:rPr lang="en-US" sz="1400" dirty="0"/>
              <a:t>Vision test must already be scheduled.</a:t>
            </a:r>
            <a:br>
              <a:rPr lang="en-US" sz="1400" dirty="0"/>
            </a:br>
            <a:r>
              <a:rPr lang="en-US" sz="1400" dirty="0"/>
              <a:t>System saves the test result successfully.</a:t>
            </a:r>
          </a:p>
        </p:txBody>
      </p:sp>
    </p:spTree>
    <p:extLst>
      <p:ext uri="{BB962C8B-B14F-4D97-AF65-F5344CB8AC3E}">
        <p14:creationId xmlns:p14="http://schemas.microsoft.com/office/powerpoint/2010/main" val="1080369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1615FB67-3D11-46AE-5C6A-73CBBFB63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981" y="157316"/>
            <a:ext cx="11720052" cy="6459794"/>
          </a:xfrm>
        </p:spPr>
        <p:txBody>
          <a:bodyPr>
            <a:noAutofit/>
          </a:bodyPr>
          <a:lstStyle/>
          <a:p>
            <a:pPr algn="l" rtl="0">
              <a:lnSpc>
                <a:spcPct val="150000"/>
              </a:lnSpc>
            </a:pPr>
            <a:r>
              <a:rPr lang="en-US" sz="1400" dirty="0"/>
              <a:t>6- as a test officer, I want to schedule a written test for an applicant so that the applicant can complete the theoretical driving examination.</a:t>
            </a:r>
          </a:p>
          <a:p>
            <a:pPr algn="l" rtl="0">
              <a:lnSpc>
                <a:spcPct val="150000"/>
              </a:lnSpc>
            </a:pPr>
            <a:r>
              <a:rPr lang="en-US" sz="1400" b="1" dirty="0"/>
              <a:t>Acceptance Criteria:</a:t>
            </a:r>
            <a:endParaRPr lang="en-US" sz="1400" dirty="0"/>
          </a:p>
          <a:p>
            <a:pPr algn="l" rtl="0">
              <a:lnSpc>
                <a:spcPct val="150000"/>
              </a:lnSpc>
            </a:pPr>
            <a:r>
              <a:rPr lang="en-US" sz="1400" dirty="0"/>
              <a:t>    - Applicant must have a valid application.</a:t>
            </a:r>
            <a:br>
              <a:rPr lang="en-US" sz="1400" dirty="0"/>
            </a:br>
            <a:r>
              <a:rPr lang="en-US" sz="1400" dirty="0"/>
              <a:t>    - Applicant must pass the vision test first.</a:t>
            </a:r>
            <a:br>
              <a:rPr lang="en-US" sz="1400" dirty="0"/>
            </a:br>
            <a:r>
              <a:rPr lang="en-US" sz="1400" dirty="0"/>
              <a:t>    - Success message appears after scheduling the test</a:t>
            </a:r>
          </a:p>
          <a:p>
            <a:pPr algn="l" rtl="0">
              <a:lnSpc>
                <a:spcPct val="150000"/>
              </a:lnSpc>
            </a:pPr>
            <a:r>
              <a:rPr lang="en-US" sz="1400" dirty="0"/>
              <a:t>7- as a test officer, I want to update the appointment of a written test so that changes in the testing schedule can be managed efficiently.</a:t>
            </a:r>
          </a:p>
          <a:p>
            <a:pPr algn="l" rtl="0">
              <a:lnSpc>
                <a:spcPct val="150000"/>
              </a:lnSpc>
            </a:pPr>
            <a:r>
              <a:rPr lang="en-US" sz="1400" b="1" dirty="0"/>
              <a:t>Acceptance Criteria:</a:t>
            </a:r>
            <a:endParaRPr lang="en-US" sz="1400" dirty="0"/>
          </a:p>
          <a:p>
            <a:pPr algn="l" rtl="0">
              <a:lnSpc>
                <a:spcPct val="150000"/>
              </a:lnSpc>
            </a:pPr>
            <a:r>
              <a:rPr lang="en-US" sz="1400" dirty="0"/>
              <a:t>    - System allows editing an existing written test appointment.</a:t>
            </a:r>
          </a:p>
          <a:p>
            <a:pPr algn="l" rtl="0">
              <a:lnSpc>
                <a:spcPct val="150000"/>
              </a:lnSpc>
            </a:pPr>
            <a:r>
              <a:rPr lang="en-US" sz="1400" dirty="0"/>
              <a:t>   - New date should be greater than old date</a:t>
            </a:r>
            <a:br>
              <a:rPr lang="en-US" sz="1400" dirty="0"/>
            </a:br>
            <a:r>
              <a:rPr lang="en-US" sz="1400" dirty="0"/>
              <a:t>    - Updated information is saved successfully.</a:t>
            </a:r>
            <a:br>
              <a:rPr lang="en-US" sz="1400" dirty="0"/>
            </a:br>
            <a:r>
              <a:rPr lang="en-US" sz="1400" dirty="0"/>
              <a:t>    - Success message appears after updating the appointment</a:t>
            </a:r>
          </a:p>
          <a:p>
            <a:pPr algn="l" rtl="0">
              <a:lnSpc>
                <a:spcPct val="150000"/>
              </a:lnSpc>
            </a:pPr>
            <a:r>
              <a:rPr lang="en-US" sz="1400" dirty="0"/>
              <a:t>8- as a test officer, I want to record the result of a written test so that the system can determine whether the applicant passed the theoretical exam.</a:t>
            </a:r>
          </a:p>
          <a:p>
            <a:pPr algn="l" rtl="0">
              <a:lnSpc>
                <a:spcPct val="150000"/>
              </a:lnSpc>
            </a:pPr>
            <a:r>
              <a:rPr lang="en-US" sz="1400" b="1" dirty="0"/>
              <a:t>Acceptance Criteria:</a:t>
            </a:r>
            <a:endParaRPr lang="en-US" sz="1400" dirty="0"/>
          </a:p>
          <a:p>
            <a:pPr algn="l" rtl="0">
              <a:lnSpc>
                <a:spcPct val="150000"/>
              </a:lnSpc>
            </a:pPr>
            <a:r>
              <a:rPr lang="en-US" sz="1400" dirty="0"/>
              <a:t>    - Input fields: Test result (Pass / Fail).</a:t>
            </a:r>
            <a:br>
              <a:rPr lang="en-US" sz="1400" dirty="0"/>
            </a:br>
            <a:r>
              <a:rPr lang="en-US" sz="1400" dirty="0"/>
              <a:t>    - Written test must already be scheduled.</a:t>
            </a:r>
            <a:br>
              <a:rPr lang="en-US" sz="1400" dirty="0"/>
            </a:br>
            <a:r>
              <a:rPr lang="en-US" sz="1400" dirty="0"/>
              <a:t>    - System records the test result successfully.</a:t>
            </a:r>
          </a:p>
        </p:txBody>
      </p:sp>
    </p:spTree>
    <p:extLst>
      <p:ext uri="{BB962C8B-B14F-4D97-AF65-F5344CB8AC3E}">
        <p14:creationId xmlns:p14="http://schemas.microsoft.com/office/powerpoint/2010/main" val="1557305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7F75B179-6B0F-1CF6-1388-3C2390C3E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981" y="107023"/>
            <a:ext cx="11838038" cy="6611829"/>
          </a:xfrm>
        </p:spPr>
        <p:txBody>
          <a:bodyPr>
            <a:noAutofit/>
          </a:bodyPr>
          <a:lstStyle/>
          <a:p>
            <a:pPr marL="0" indent="0" algn="l" rtl="0">
              <a:lnSpc>
                <a:spcPct val="150000"/>
              </a:lnSpc>
              <a:buNone/>
            </a:pPr>
            <a:r>
              <a:rPr lang="en-US" sz="1400" dirty="0"/>
              <a:t>9- as a test officer, I want to schedule a street test so that the applicant can complete the practical driving examination</a:t>
            </a:r>
          </a:p>
          <a:p>
            <a:pPr marL="0" indent="0" algn="l" rtl="0">
              <a:lnSpc>
                <a:spcPct val="150000"/>
              </a:lnSpc>
              <a:buNone/>
            </a:pPr>
            <a:r>
              <a:rPr lang="en-US" sz="1400" b="1" dirty="0"/>
              <a:t>Acceptance Criteria:</a:t>
            </a:r>
            <a:endParaRPr lang="en-US" sz="1400" dirty="0"/>
          </a:p>
          <a:p>
            <a:pPr marL="0" indent="0" algn="l" rtl="0">
              <a:lnSpc>
                <a:spcPct val="150000"/>
              </a:lnSpc>
              <a:buNone/>
            </a:pPr>
            <a:r>
              <a:rPr lang="en-US" sz="1400" dirty="0"/>
              <a:t>Applicant must have passed the required previous tests.</a:t>
            </a:r>
            <a:br>
              <a:rPr lang="en-US" sz="1400" dirty="0"/>
            </a:br>
            <a:r>
              <a:rPr lang="en-US" sz="1400" dirty="0"/>
              <a:t>System saves the street test appointment.</a:t>
            </a:r>
            <a:br>
              <a:rPr lang="en-US" sz="1400" dirty="0"/>
            </a:br>
            <a:r>
              <a:rPr lang="en-US" sz="1400" dirty="0"/>
              <a:t>Success message appears after scheduling the test</a:t>
            </a:r>
          </a:p>
          <a:p>
            <a:pPr marL="0" indent="0" algn="l" rtl="0">
              <a:lnSpc>
                <a:spcPct val="150000"/>
              </a:lnSpc>
              <a:buNone/>
            </a:pPr>
            <a:r>
              <a:rPr lang="en-US" sz="1400" dirty="0"/>
              <a:t>10- as a test officer, I want to modify the appointment of a street test so that I can adjust the driving test schedule when necessary.</a:t>
            </a:r>
          </a:p>
          <a:p>
            <a:pPr marL="0" indent="0" algn="l" rtl="0">
              <a:lnSpc>
                <a:spcPct val="150000"/>
              </a:lnSpc>
              <a:buNone/>
            </a:pPr>
            <a:r>
              <a:rPr lang="en-US" sz="1400" b="1" dirty="0"/>
              <a:t>Acceptance Criteria:</a:t>
            </a:r>
            <a:endParaRPr lang="en-US" sz="1400" dirty="0"/>
          </a:p>
          <a:p>
            <a:pPr marL="0" indent="0" algn="l" rtl="0">
              <a:lnSpc>
                <a:spcPct val="150000"/>
              </a:lnSpc>
              <a:buNone/>
            </a:pPr>
            <a:r>
              <a:rPr lang="en-US" sz="1400" dirty="0"/>
              <a:t>Updated information is saved successfully.</a:t>
            </a:r>
            <a:br>
              <a:rPr lang="en-US" sz="1400" dirty="0"/>
            </a:br>
            <a:r>
              <a:rPr lang="en-US" sz="1400" dirty="0"/>
              <a:t>Success message appears after updating the appointment</a:t>
            </a:r>
          </a:p>
          <a:p>
            <a:pPr marL="0" indent="0" algn="l" rtl="0">
              <a:lnSpc>
                <a:spcPct val="150000"/>
              </a:lnSpc>
              <a:buNone/>
            </a:pPr>
            <a:r>
              <a:rPr lang="en-US" sz="1400" dirty="0"/>
              <a:t>New date should be greater than old date</a:t>
            </a:r>
          </a:p>
          <a:p>
            <a:pPr marL="0" indent="0" algn="l" rtl="0">
              <a:lnSpc>
                <a:spcPct val="150000"/>
              </a:lnSpc>
              <a:buNone/>
            </a:pPr>
            <a:r>
              <a:rPr lang="en-US" sz="1400" dirty="0"/>
              <a:t>11- as a test officer, I want to record the result of a street test so that the system can determine whether the applicant passed the practical driving exam.</a:t>
            </a:r>
          </a:p>
          <a:p>
            <a:pPr marL="0" indent="0" algn="l" rtl="0">
              <a:lnSpc>
                <a:spcPct val="150000"/>
              </a:lnSpc>
              <a:buNone/>
            </a:pPr>
            <a:r>
              <a:rPr lang="en-US" sz="1400" b="1" dirty="0"/>
              <a:t>Acceptance Criteria:</a:t>
            </a:r>
            <a:endParaRPr lang="en-US" sz="1400" dirty="0"/>
          </a:p>
          <a:p>
            <a:pPr marL="0" indent="0" algn="l" rtl="0">
              <a:lnSpc>
                <a:spcPct val="150000"/>
              </a:lnSpc>
              <a:buNone/>
            </a:pPr>
            <a:r>
              <a:rPr lang="en-US" sz="1400" dirty="0"/>
              <a:t>    - Input fields: Test result (Pass / Fail).</a:t>
            </a:r>
            <a:br>
              <a:rPr lang="en-US" sz="1400" dirty="0"/>
            </a:br>
            <a:r>
              <a:rPr lang="en-US" sz="1400" dirty="0"/>
              <a:t>    - Street test must already be scheduled.</a:t>
            </a:r>
            <a:br>
              <a:rPr lang="en-US" sz="1400" dirty="0"/>
            </a:br>
            <a:r>
              <a:rPr lang="en-US" sz="1400" dirty="0"/>
              <a:t>    - System records the test result successfully</a:t>
            </a:r>
          </a:p>
        </p:txBody>
      </p:sp>
    </p:spTree>
    <p:extLst>
      <p:ext uri="{BB962C8B-B14F-4D97-AF65-F5344CB8AC3E}">
        <p14:creationId xmlns:p14="http://schemas.microsoft.com/office/powerpoint/2010/main" val="49721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4F128611-C651-697C-0EF7-73C644C13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91" y="864108"/>
            <a:ext cx="11840546" cy="5695312"/>
          </a:xfrm>
        </p:spPr>
        <p:txBody>
          <a:bodyPr>
            <a:normAutofit/>
          </a:bodyPr>
          <a:lstStyle/>
          <a:p>
            <a:pPr marL="0" indent="0" algn="l" rtl="0">
              <a:lnSpc>
                <a:spcPct val="170000"/>
              </a:lnSpc>
              <a:buNone/>
            </a:pPr>
            <a:r>
              <a:rPr lang="en-US" sz="1800" dirty="0"/>
              <a:t>1- as a license officer, I want to create a first-time driving license for a person so that qualified applicants can legally drive.</a:t>
            </a:r>
          </a:p>
          <a:p>
            <a:pPr marL="0" indent="0" algn="l" rtl="0">
              <a:lnSpc>
                <a:spcPct val="170000"/>
              </a:lnSpc>
              <a:buNone/>
            </a:pPr>
            <a:r>
              <a:rPr lang="en-US" sz="1800" b="1" dirty="0"/>
              <a:t>Acceptance Criteria:</a:t>
            </a:r>
            <a:endParaRPr lang="en-US" sz="1800" dirty="0"/>
          </a:p>
          <a:p>
            <a:pPr marL="0" indent="0" algn="l" rtl="0">
              <a:lnSpc>
                <a:spcPct val="170000"/>
              </a:lnSpc>
              <a:buNone/>
            </a:pPr>
            <a:r>
              <a:rPr lang="en-US" sz="1800" dirty="0"/>
              <a:t>Input fields: Person ID , issue date, expiry date…..</a:t>
            </a:r>
            <a:br>
              <a:rPr lang="en-US" sz="1800" dirty="0"/>
            </a:br>
            <a:r>
              <a:rPr lang="en-US" sz="1800" dirty="0"/>
              <a:t>Person must have passed all required tests.</a:t>
            </a:r>
            <a:br>
              <a:rPr lang="en-US" sz="1800" dirty="0"/>
            </a:br>
            <a:r>
              <a:rPr lang="en-US" sz="1800" dirty="0"/>
              <a:t>Success message appears after license creation.</a:t>
            </a:r>
          </a:p>
          <a:p>
            <a:pPr marL="0" indent="0" algn="l" rtl="0">
              <a:lnSpc>
                <a:spcPct val="170000"/>
              </a:lnSpc>
              <a:buNone/>
            </a:pPr>
            <a:r>
              <a:rPr lang="en-US" sz="1800" dirty="0"/>
              <a:t>2- as a license officer, I want to view license information so that I can verify license details when needed.</a:t>
            </a:r>
          </a:p>
          <a:p>
            <a:pPr marL="0" indent="0" algn="l" rtl="0">
              <a:lnSpc>
                <a:spcPct val="170000"/>
              </a:lnSpc>
              <a:buNone/>
            </a:pPr>
            <a:r>
              <a:rPr lang="en-US" sz="1800" b="1" dirty="0"/>
              <a:t>Acceptance Criteria:</a:t>
            </a:r>
            <a:endParaRPr lang="en-US" sz="1800" dirty="0"/>
          </a:p>
          <a:p>
            <a:pPr marL="0" indent="0" algn="l" rtl="0">
              <a:lnSpc>
                <a:spcPct val="170000"/>
              </a:lnSpc>
              <a:buNone/>
            </a:pPr>
            <a:r>
              <a:rPr lang="en-US" sz="1800" dirty="0"/>
              <a:t>    - System displays license information.</a:t>
            </a:r>
            <a:br>
              <a:rPr lang="en-US" sz="1800" dirty="0"/>
            </a:br>
            <a:r>
              <a:rPr lang="en-US" sz="1800" dirty="0"/>
              <a:t>    - Displayed information includes license number, person name, issue date, expiry date, and license status</a:t>
            </a:r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FC3E1163-0251-3CA0-151F-B515D2C0C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74"/>
            <a:ext cx="10515600" cy="689234"/>
          </a:xfrm>
        </p:spPr>
        <p:txBody>
          <a:bodyPr>
            <a:normAutofit fontScale="90000"/>
          </a:bodyPr>
          <a:lstStyle/>
          <a:p>
            <a:pPr algn="ctr" rtl="0"/>
            <a:r>
              <a:rPr lang="en-US" dirty="0">
                <a:solidFill>
                  <a:srgbClr val="FF0000"/>
                </a:solidFill>
              </a:rPr>
              <a:t>Sprint {5} Backlog</a:t>
            </a:r>
          </a:p>
        </p:txBody>
      </p:sp>
    </p:spTree>
    <p:extLst>
      <p:ext uri="{BB962C8B-B14F-4D97-AF65-F5344CB8AC3E}">
        <p14:creationId xmlns:p14="http://schemas.microsoft.com/office/powerpoint/2010/main" val="3155280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7A244F47-9DDF-8BF2-5970-448ED7D5B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588" y="864108"/>
            <a:ext cx="11653934" cy="5312855"/>
          </a:xfrm>
        </p:spPr>
        <p:txBody>
          <a:bodyPr>
            <a:normAutofit/>
          </a:bodyPr>
          <a:lstStyle/>
          <a:p>
            <a:pPr marL="0" indent="0" algn="l" rtl="0">
              <a:lnSpc>
                <a:spcPct val="150000"/>
              </a:lnSpc>
              <a:buNone/>
            </a:pPr>
            <a:r>
              <a:rPr lang="en-US" sz="1800" dirty="0"/>
              <a:t>1- as a citizen, I want to create an application for a local driving license so that I can start the license application process.</a:t>
            </a:r>
          </a:p>
          <a:p>
            <a:pPr marL="0" indent="0" algn="l" rtl="0">
              <a:lnSpc>
                <a:spcPct val="150000"/>
              </a:lnSpc>
              <a:buNone/>
            </a:pPr>
            <a:r>
              <a:rPr lang="en-US" sz="1800" b="1" dirty="0"/>
              <a:t>Acceptance Criteria:</a:t>
            </a:r>
            <a:endParaRPr lang="en-US" sz="1800" dirty="0"/>
          </a:p>
          <a:p>
            <a:pPr marL="0" indent="0" algn="l" rtl="0">
              <a:lnSpc>
                <a:spcPct val="150000"/>
              </a:lnSpc>
              <a:buNone/>
            </a:pPr>
            <a:r>
              <a:rPr lang="en-US" sz="1800" dirty="0"/>
              <a:t>   - All required fields must be completed.</a:t>
            </a:r>
            <a:br>
              <a:rPr lang="en-US" sz="1800" dirty="0"/>
            </a:br>
            <a:r>
              <a:rPr lang="en-US" sz="1800" dirty="0"/>
              <a:t>   - System generates a unique application number.</a:t>
            </a:r>
            <a:br>
              <a:rPr lang="en-US" sz="1800" dirty="0"/>
            </a:br>
            <a:r>
              <a:rPr lang="en-US" sz="1800" dirty="0"/>
              <a:t>   - Success message appears after submitting the application.</a:t>
            </a:r>
          </a:p>
          <a:p>
            <a:pPr marL="0" indent="0" algn="l" rtl="0">
              <a:lnSpc>
                <a:spcPct val="150000"/>
              </a:lnSpc>
              <a:buNone/>
            </a:pPr>
            <a:r>
              <a:rPr lang="en-US" sz="1800" dirty="0"/>
              <a:t>4- as a citizen, I want to view my application information so that I can track the progress and details of my application.</a:t>
            </a:r>
          </a:p>
          <a:p>
            <a:pPr marL="0" indent="0" algn="l" rtl="0">
              <a:lnSpc>
                <a:spcPct val="150000"/>
              </a:lnSpc>
              <a:buNone/>
            </a:pPr>
            <a:r>
              <a:rPr lang="en-US" sz="1800" b="1" dirty="0"/>
              <a:t>Acceptance Criteria:</a:t>
            </a:r>
            <a:endParaRPr lang="en-US" sz="1800" dirty="0"/>
          </a:p>
          <a:p>
            <a:pPr marL="0" indent="0" algn="l" rtl="0">
              <a:lnSpc>
                <a:spcPct val="150000"/>
              </a:lnSpc>
              <a:buNone/>
            </a:pPr>
            <a:r>
              <a:rPr lang="en-US" sz="1800" dirty="0"/>
              <a:t>   - System displays application details.</a:t>
            </a:r>
            <a:br>
              <a:rPr lang="en-US" sz="1800" dirty="0"/>
            </a:br>
            <a:r>
              <a:rPr lang="en-US" sz="1800" dirty="0"/>
              <a:t>   - Displayed information includes application status, application date, related test appointments and     </a:t>
            </a:r>
          </a:p>
          <a:p>
            <a:pPr marL="0" indent="0" algn="l" rtl="0">
              <a:lnSpc>
                <a:spcPct val="150000"/>
              </a:lnSpc>
              <a:buNone/>
            </a:pPr>
            <a:r>
              <a:rPr lang="en-US" sz="1800" dirty="0"/>
              <a:t>       personal Information.</a:t>
            </a:r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68E0A6DD-7189-8C65-0C0A-CEE4EDE4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74"/>
            <a:ext cx="10515600" cy="689234"/>
          </a:xfrm>
        </p:spPr>
        <p:txBody>
          <a:bodyPr>
            <a:normAutofit fontScale="90000"/>
          </a:bodyPr>
          <a:lstStyle/>
          <a:p>
            <a:pPr algn="ctr" rtl="0"/>
            <a:r>
              <a:rPr lang="en-US" dirty="0">
                <a:solidFill>
                  <a:srgbClr val="FF0000"/>
                </a:solidFill>
              </a:rPr>
              <a:t>Sprint {6} Backlog</a:t>
            </a:r>
          </a:p>
        </p:txBody>
      </p:sp>
    </p:spTree>
    <p:extLst>
      <p:ext uri="{BB962C8B-B14F-4D97-AF65-F5344CB8AC3E}">
        <p14:creationId xmlns:p14="http://schemas.microsoft.com/office/powerpoint/2010/main" val="18222867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BDF815B-CA6A-9FDB-63E6-8F02227C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233" y="1"/>
            <a:ext cx="10515600" cy="6158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Book Antiqua" panose="02040602050305030304" pitchFamily="18" charset="0"/>
              </a:rPr>
              <a:t>Use Case High Level</a:t>
            </a:r>
            <a:endParaRPr lang="ar-SA" dirty="0">
              <a:solidFill>
                <a:srgbClr val="FF0000"/>
              </a:solidFill>
              <a:latin typeface="Book Antiqua" panose="02040602050305030304" pitchFamily="18" charset="0"/>
            </a:endParaRPr>
          </a:p>
        </p:txBody>
      </p:sp>
      <p:pic>
        <p:nvPicPr>
          <p:cNvPr id="6" name="عنصر نائب للمحتوى 5">
            <a:extLst>
              <a:ext uri="{FF2B5EF4-FFF2-40B4-BE49-F238E27FC236}">
                <a16:creationId xmlns:a16="http://schemas.microsoft.com/office/drawing/2014/main" id="{EFFE39F5-8FB7-E33A-3395-1584387F3C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763" y="616974"/>
            <a:ext cx="11150082" cy="6082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6790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27D48A1-1BDC-5A06-C08C-B7EBBE2B9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1298"/>
            <a:ext cx="10515600" cy="23326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Requirement Description Table</a:t>
            </a:r>
            <a:endParaRPr lang="ar-SA" sz="4400" dirty="0">
              <a:solidFill>
                <a:srgbClr val="FF0000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graphicFrame>
        <p:nvGraphicFramePr>
          <p:cNvPr id="4" name="عنصر نائب للمحتوى 3">
            <a:extLst>
              <a:ext uri="{FF2B5EF4-FFF2-40B4-BE49-F238E27FC236}">
                <a16:creationId xmlns:a16="http://schemas.microsoft.com/office/drawing/2014/main" id="{09EEF3B2-9CAE-8563-369A-550CCEFF24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853919"/>
              </p:ext>
            </p:extLst>
          </p:nvPr>
        </p:nvGraphicFramePr>
        <p:xfrm>
          <a:off x="838200" y="527543"/>
          <a:ext cx="10806404" cy="6216397"/>
        </p:xfrm>
        <a:graphic>
          <a:graphicData uri="http://schemas.openxmlformats.org/drawingml/2006/table">
            <a:tbl>
              <a:tblPr rtl="1" firstRow="1" firstCol="1">
                <a:tableStyleId>{5C22544A-7EE6-4342-B048-85BDC9FD1C3A}</a:tableStyleId>
              </a:tblPr>
              <a:tblGrid>
                <a:gridCol w="2355472">
                  <a:extLst>
                    <a:ext uri="{9D8B030D-6E8A-4147-A177-3AD203B41FA5}">
                      <a16:colId xmlns:a16="http://schemas.microsoft.com/office/drawing/2014/main" val="398900555"/>
                    </a:ext>
                  </a:extLst>
                </a:gridCol>
                <a:gridCol w="8450932">
                  <a:extLst>
                    <a:ext uri="{9D8B030D-6E8A-4147-A177-3AD203B41FA5}">
                      <a16:colId xmlns:a16="http://schemas.microsoft.com/office/drawing/2014/main" val="1275337327"/>
                    </a:ext>
                  </a:extLst>
                </a:gridCol>
              </a:tblGrid>
              <a:tr h="173170">
                <a:tc>
                  <a:txBody>
                    <a:bodyPr/>
                    <a:lstStyle/>
                    <a:p>
                      <a:pPr algn="ctr" rtl="1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Use Case Title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Test Management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97934322"/>
                  </a:ext>
                </a:extLst>
              </a:tr>
              <a:tr h="173170">
                <a:tc>
                  <a:txBody>
                    <a:bodyPr/>
                    <a:lstStyle/>
                    <a:p>
                      <a:pPr algn="ctr" rtl="1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Actors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Employee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94652289"/>
                  </a:ext>
                </a:extLst>
              </a:tr>
              <a:tr h="173170">
                <a:tc>
                  <a:txBody>
                    <a:bodyPr/>
                    <a:lstStyle/>
                    <a:p>
                      <a:pPr algn="ctr" rtl="1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Prerequisites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Login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49304612"/>
                  </a:ext>
                </a:extLst>
              </a:tr>
              <a:tr h="4285469">
                <a:tc>
                  <a:txBody>
                    <a:bodyPr/>
                    <a:lstStyle/>
                    <a:p>
                      <a:pPr algn="ctr" rtl="1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Main flow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1. The test administrator clicks the Manage Requests icon.</a:t>
                      </a:r>
                    </a:p>
                    <a:p>
                      <a:pPr algn="ctr" rtl="1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2. The system displays the Requests interface.</a:t>
                      </a:r>
                    </a:p>
                    <a:p>
                      <a:pPr algn="ctr" rtl="1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3. The test administrator clicks the Tests icon.</a:t>
                      </a:r>
                    </a:p>
                    <a:p>
                      <a:pPr algn="ctr" rtl="1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4. The system displays the Tests interface and shows the person's previous appointments for the selected test, if any.</a:t>
                      </a:r>
                    </a:p>
                    <a:p>
                      <a:pPr algn="ctr" rtl="1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5. If the test administrator chooses to add a new appointment:</a:t>
                      </a:r>
                    </a:p>
                    <a:p>
                      <a:pPr algn="ctr" rtl="1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I. The system displays the Add Appointment interface.</a:t>
                      </a:r>
                    </a:p>
                    <a:p>
                      <a:pPr algn="ctr" rtl="1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II. The test administrator selects the test date and clicks the Save button.</a:t>
                      </a:r>
                    </a:p>
                    <a:p>
                      <a:pPr algn="ctr" rtl="1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III. The system displays a success message.</a:t>
                      </a:r>
                    </a:p>
                    <a:p>
                      <a:pPr algn="ctr" rtl="1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6. If the test administrator chooses to modify an appointment:</a:t>
                      </a:r>
                    </a:p>
                    <a:p>
                      <a:pPr algn="ctr" rtl="1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I. The system displays the Modify Appointment interface.</a:t>
                      </a:r>
                    </a:p>
                    <a:p>
                      <a:pPr algn="ctr" rtl="1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II. The test administrator modifies the test date and clicks the Save button.</a:t>
                      </a:r>
                    </a:p>
                    <a:p>
                      <a:pPr algn="ctr" rtl="1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III. The system displays a success message.</a:t>
                      </a:r>
                    </a:p>
                    <a:p>
                      <a:pPr algn="ctr" rtl="1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7. If the test administrator chooses to set the test result:</a:t>
                      </a:r>
                    </a:p>
                    <a:p>
                      <a:pPr algn="ctr" rtl="1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I. The system displays the Set Test Result interface.</a:t>
                      </a:r>
                    </a:p>
                    <a:p>
                      <a:pPr algn="ctr" rtl="1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II. The test administrator sets the person's result (Pass or Fail) and clicks the Save button.</a:t>
                      </a:r>
                    </a:p>
                    <a:p>
                      <a:pPr algn="ctr" rtl="1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III. The system displays a success message.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18874660"/>
                  </a:ext>
                </a:extLst>
              </a:tr>
              <a:tr h="447323">
                <a:tc>
                  <a:txBody>
                    <a:bodyPr/>
                    <a:lstStyle/>
                    <a:p>
                      <a:pPr algn="ctr" rtl="1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alternative flow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At step 5:</a:t>
                      </a:r>
                    </a:p>
                    <a:p>
                      <a:pPr algn="ctr" rtl="1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1- If the person has passed the specified test or has an active appointment, the system displays a rejection message.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05864772"/>
                  </a:ext>
                </a:extLst>
              </a:tr>
              <a:tr h="173170">
                <a:tc>
                  <a:txBody>
                    <a:bodyPr/>
                    <a:lstStyle/>
                    <a:p>
                      <a:pPr algn="ctr" rtl="1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Exit condition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Not Found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10500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46754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5C8EC27-00DA-3071-5C46-828C84EDB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208"/>
            <a:ext cx="10515600" cy="41864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Activity diagram</a:t>
            </a:r>
            <a:endParaRPr lang="ar-SA" sz="4400" dirty="0">
              <a:solidFill>
                <a:srgbClr val="FF0000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pic>
        <p:nvPicPr>
          <p:cNvPr id="7" name="عنصر نائب للمحتوى 6">
            <a:extLst>
              <a:ext uri="{FF2B5EF4-FFF2-40B4-BE49-F238E27FC236}">
                <a16:creationId xmlns:a16="http://schemas.microsoft.com/office/drawing/2014/main" id="{6AB49BC8-18F8-3212-8FA9-732D325510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208" y="625151"/>
            <a:ext cx="11513976" cy="6147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1027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A7CF0A6-65C0-DC9D-ACB8-383CC8EF1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546"/>
            <a:ext cx="10515600" cy="34400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Sequence diagram</a:t>
            </a:r>
            <a:endParaRPr lang="ar-SA" dirty="0">
              <a:solidFill>
                <a:srgbClr val="FF0000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pic>
        <p:nvPicPr>
          <p:cNvPr id="7" name="عنصر نائب للمحتوى 6">
            <a:extLst>
              <a:ext uri="{FF2B5EF4-FFF2-40B4-BE49-F238E27FC236}">
                <a16:creationId xmlns:a16="http://schemas.microsoft.com/office/drawing/2014/main" id="{66CFB696-720B-7007-9DBC-317CEAC53F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97" y="541176"/>
            <a:ext cx="11971175" cy="610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183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8C84CDC-FE2C-E2BB-6E33-70959C6D8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7647"/>
            <a:ext cx="10515600" cy="45720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Test Case</a:t>
            </a:r>
            <a:endParaRPr lang="ar-SA" sz="4400" dirty="0">
              <a:solidFill>
                <a:srgbClr val="FF0000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graphicFrame>
        <p:nvGraphicFramePr>
          <p:cNvPr id="4" name="عنصر نائب للمحتوى 3">
            <a:extLst>
              <a:ext uri="{FF2B5EF4-FFF2-40B4-BE49-F238E27FC236}">
                <a16:creationId xmlns:a16="http://schemas.microsoft.com/office/drawing/2014/main" id="{84ABF85A-69CB-9FEE-2C0F-E976E49E1B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1817824"/>
              </p:ext>
            </p:extLst>
          </p:nvPr>
        </p:nvGraphicFramePr>
        <p:xfrm>
          <a:off x="5794311" y="675386"/>
          <a:ext cx="6249522" cy="2942052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2894867">
                  <a:extLst>
                    <a:ext uri="{9D8B030D-6E8A-4147-A177-3AD203B41FA5}">
                      <a16:colId xmlns:a16="http://schemas.microsoft.com/office/drawing/2014/main" val="3665266531"/>
                    </a:ext>
                  </a:extLst>
                </a:gridCol>
                <a:gridCol w="3354655">
                  <a:extLst>
                    <a:ext uri="{9D8B030D-6E8A-4147-A177-3AD203B41FA5}">
                      <a16:colId xmlns:a16="http://schemas.microsoft.com/office/drawing/2014/main" val="390100019"/>
                    </a:ext>
                  </a:extLst>
                </a:gridCol>
              </a:tblGrid>
              <a:tr h="262473"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ID</a:t>
                      </a:r>
                      <a:endParaRPr lang="en-US" sz="11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TC_18</a:t>
                      </a:r>
                      <a:endParaRPr lang="en-US" sz="11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71193747"/>
                  </a:ext>
                </a:extLst>
              </a:tr>
              <a:tr h="811711"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address</a:t>
                      </a:r>
                      <a:endParaRPr lang="en-US" sz="11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Create a local license and select a category for a person who has an active application for the same category.</a:t>
                      </a:r>
                      <a:endParaRPr lang="en-US" sz="11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00585109"/>
                  </a:ext>
                </a:extLst>
              </a:tr>
              <a:tr h="1056157"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Test steps</a:t>
                      </a:r>
                      <a:endParaRPr lang="en-US" sz="11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 Open the local license creation interface</a:t>
                      </a:r>
                    </a:p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 Fill in the required information</a:t>
                      </a:r>
                    </a:p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 Click the save button</a:t>
                      </a:r>
                      <a:endParaRPr lang="en-US" sz="11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81533461"/>
                  </a:ext>
                </a:extLst>
              </a:tr>
              <a:tr h="811711"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Expected result</a:t>
                      </a:r>
                      <a:endParaRPr lang="en-US" sz="11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 message appears saying, "You cannot place an order because the person already has an active order."</a:t>
                      </a:r>
                      <a:endParaRPr lang="en-US" sz="11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99118567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9358A150-B2D9-BB7F-C16A-C501FD7DE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1106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ar-SA"/>
          </a:p>
        </p:txBody>
      </p:sp>
      <p:graphicFrame>
        <p:nvGraphicFramePr>
          <p:cNvPr id="3" name="جدول 2">
            <a:extLst>
              <a:ext uri="{FF2B5EF4-FFF2-40B4-BE49-F238E27FC236}">
                <a16:creationId xmlns:a16="http://schemas.microsoft.com/office/drawing/2014/main" id="{EC39789E-3FCA-AACC-4701-A1962266DC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532073"/>
              </p:ext>
            </p:extLst>
          </p:nvPr>
        </p:nvGraphicFramePr>
        <p:xfrm>
          <a:off x="3124633" y="3868992"/>
          <a:ext cx="5567676" cy="2472954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2579026">
                  <a:extLst>
                    <a:ext uri="{9D8B030D-6E8A-4147-A177-3AD203B41FA5}">
                      <a16:colId xmlns:a16="http://schemas.microsoft.com/office/drawing/2014/main" val="2910740190"/>
                    </a:ext>
                  </a:extLst>
                </a:gridCol>
                <a:gridCol w="2988650">
                  <a:extLst>
                    <a:ext uri="{9D8B030D-6E8A-4147-A177-3AD203B41FA5}">
                      <a16:colId xmlns:a16="http://schemas.microsoft.com/office/drawing/2014/main" val="1397637848"/>
                    </a:ext>
                  </a:extLst>
                </a:gridCol>
              </a:tblGrid>
              <a:tr h="245500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ID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TC_25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71325459"/>
                  </a:ext>
                </a:extLst>
              </a:tr>
              <a:tr h="243929"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address</a:t>
                      </a:r>
                      <a:endParaRPr lang="en-US" sz="11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Book a test appointment for someone who has passed the test</a:t>
                      </a:r>
                      <a:endParaRPr lang="en-US" sz="11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28608888"/>
                  </a:ext>
                </a:extLst>
              </a:tr>
              <a:tr h="986289"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Test steps</a:t>
                      </a:r>
                      <a:endParaRPr lang="en-US" sz="11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1. Open the exam management interface.</a:t>
                      </a:r>
                    </a:p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2. Click the Add Dates button.</a:t>
                      </a:r>
                    </a:p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3. Click the Save button.</a:t>
                      </a:r>
                      <a:endParaRPr lang="en-US" sz="11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99844264"/>
                  </a:ext>
                </a:extLst>
              </a:tr>
              <a:tr h="500790"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Expected result</a:t>
                      </a:r>
                      <a:endParaRPr lang="en-US" sz="11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The message "Process failed" appears because the person passed this type of test.</a:t>
                      </a:r>
                      <a:endParaRPr lang="en-US" sz="11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98445520"/>
                  </a:ext>
                </a:extLst>
              </a:tr>
            </a:tbl>
          </a:graphicData>
        </a:graphic>
      </p:graphicFrame>
      <p:graphicFrame>
        <p:nvGraphicFramePr>
          <p:cNvPr id="8" name="جدول 7">
            <a:extLst>
              <a:ext uri="{FF2B5EF4-FFF2-40B4-BE49-F238E27FC236}">
                <a16:creationId xmlns:a16="http://schemas.microsoft.com/office/drawing/2014/main" id="{C0971399-E29E-C428-B8BB-68DF75AA2A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5050009"/>
              </p:ext>
            </p:extLst>
          </p:nvPr>
        </p:nvGraphicFramePr>
        <p:xfrm>
          <a:off x="113317" y="675386"/>
          <a:ext cx="5567677" cy="2942053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2579027">
                  <a:extLst>
                    <a:ext uri="{9D8B030D-6E8A-4147-A177-3AD203B41FA5}">
                      <a16:colId xmlns:a16="http://schemas.microsoft.com/office/drawing/2014/main" val="765409473"/>
                    </a:ext>
                  </a:extLst>
                </a:gridCol>
                <a:gridCol w="2988650">
                  <a:extLst>
                    <a:ext uri="{9D8B030D-6E8A-4147-A177-3AD203B41FA5}">
                      <a16:colId xmlns:a16="http://schemas.microsoft.com/office/drawing/2014/main" val="1263075633"/>
                    </a:ext>
                  </a:extLst>
                </a:gridCol>
              </a:tblGrid>
              <a:tr h="384716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ID</a:t>
                      </a:r>
                      <a:endParaRPr lang="en-US" sz="11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TC_26</a:t>
                      </a:r>
                      <a:endParaRPr lang="en-US" sz="11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18445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address</a:t>
                      </a:r>
                      <a:endParaRPr lang="en-US" sz="11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Changing a test appointment for a person</a:t>
                      </a:r>
                      <a:endParaRPr lang="en-US" sz="11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06880714"/>
                  </a:ext>
                </a:extLst>
              </a:tr>
              <a:tr h="104075"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Test steps</a:t>
                      </a:r>
                      <a:endParaRPr lang="en-US" sz="11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1. Open the exam management interface</a:t>
                      </a:r>
                    </a:p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2. Open the appointment modification interface</a:t>
                      </a:r>
                    </a:p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3. Select the new appointment date</a:t>
                      </a:r>
                    </a:p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4. Click the save button</a:t>
                      </a:r>
                      <a:endParaRPr lang="en-US" sz="11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17020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Expected result</a:t>
                      </a:r>
                      <a:endParaRPr lang="en-US" sz="11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The message "Process Success" appears</a:t>
                      </a:r>
                      <a:endParaRPr lang="en-US" sz="11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17118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5900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7F8F328-3385-EF21-AA74-FB169490C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439"/>
            <a:ext cx="10515600" cy="56793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Book Antiqua" panose="02040602050305030304" pitchFamily="18" charset="0"/>
              </a:rPr>
              <a:t>System Architecture</a:t>
            </a:r>
            <a:endParaRPr lang="ar-SA" dirty="0">
              <a:solidFill>
                <a:srgbClr val="FF0000"/>
              </a:solidFill>
              <a:latin typeface="Book Antiqua" panose="02040602050305030304" pitchFamily="18" charset="0"/>
            </a:endParaRPr>
          </a:p>
        </p:txBody>
      </p:sp>
      <p:pic>
        <p:nvPicPr>
          <p:cNvPr id="6" name="عنصر نائب للمحتوى 5">
            <a:extLst>
              <a:ext uri="{FF2B5EF4-FFF2-40B4-BE49-F238E27FC236}">
                <a16:creationId xmlns:a16="http://schemas.microsoft.com/office/drawing/2014/main" id="{E9B2DDCB-CFDA-597F-F427-8AE426EFC2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788" y="811764"/>
            <a:ext cx="10926147" cy="537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8113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E9CE01B-9880-11AB-8B50-43F2A984B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5846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  <a:latin typeface="Book Antiqua" panose="02040602050305030304" pitchFamily="18" charset="0"/>
              </a:rPr>
              <a:t>RTM</a:t>
            </a:r>
            <a:endParaRPr lang="ar-SA" dirty="0">
              <a:solidFill>
                <a:srgbClr val="FF0000"/>
              </a:solidFill>
              <a:latin typeface="Book Antiqua" panose="02040602050305030304" pitchFamily="18" charset="0"/>
            </a:endParaRPr>
          </a:p>
        </p:txBody>
      </p:sp>
      <p:graphicFrame>
        <p:nvGraphicFramePr>
          <p:cNvPr id="4" name="عنصر نائب للمحتوى 3">
            <a:extLst>
              <a:ext uri="{FF2B5EF4-FFF2-40B4-BE49-F238E27FC236}">
                <a16:creationId xmlns:a16="http://schemas.microsoft.com/office/drawing/2014/main" id="{CC9D10A5-0217-28AB-C6F1-F86A0A5C24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0779496"/>
              </p:ext>
            </p:extLst>
          </p:nvPr>
        </p:nvGraphicFramePr>
        <p:xfrm>
          <a:off x="211138" y="1426508"/>
          <a:ext cx="11685392" cy="20024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95483">
                  <a:extLst>
                    <a:ext uri="{9D8B030D-6E8A-4147-A177-3AD203B41FA5}">
                      <a16:colId xmlns:a16="http://schemas.microsoft.com/office/drawing/2014/main" val="2649581593"/>
                    </a:ext>
                  </a:extLst>
                </a:gridCol>
                <a:gridCol w="1343057">
                  <a:extLst>
                    <a:ext uri="{9D8B030D-6E8A-4147-A177-3AD203B41FA5}">
                      <a16:colId xmlns:a16="http://schemas.microsoft.com/office/drawing/2014/main" val="1240207388"/>
                    </a:ext>
                  </a:extLst>
                </a:gridCol>
                <a:gridCol w="1668768">
                  <a:extLst>
                    <a:ext uri="{9D8B030D-6E8A-4147-A177-3AD203B41FA5}">
                      <a16:colId xmlns:a16="http://schemas.microsoft.com/office/drawing/2014/main" val="2374516063"/>
                    </a:ext>
                  </a:extLst>
                </a:gridCol>
                <a:gridCol w="1669772">
                  <a:extLst>
                    <a:ext uri="{9D8B030D-6E8A-4147-A177-3AD203B41FA5}">
                      <a16:colId xmlns:a16="http://schemas.microsoft.com/office/drawing/2014/main" val="4250138006"/>
                    </a:ext>
                  </a:extLst>
                </a:gridCol>
                <a:gridCol w="1668768">
                  <a:extLst>
                    <a:ext uri="{9D8B030D-6E8A-4147-A177-3AD203B41FA5}">
                      <a16:colId xmlns:a16="http://schemas.microsoft.com/office/drawing/2014/main" val="1337235228"/>
                    </a:ext>
                  </a:extLst>
                </a:gridCol>
                <a:gridCol w="1669772">
                  <a:extLst>
                    <a:ext uri="{9D8B030D-6E8A-4147-A177-3AD203B41FA5}">
                      <a16:colId xmlns:a16="http://schemas.microsoft.com/office/drawing/2014/main" val="1122212954"/>
                    </a:ext>
                  </a:extLst>
                </a:gridCol>
                <a:gridCol w="1669772">
                  <a:extLst>
                    <a:ext uri="{9D8B030D-6E8A-4147-A177-3AD203B41FA5}">
                      <a16:colId xmlns:a16="http://schemas.microsoft.com/office/drawing/2014/main" val="3580161176"/>
                    </a:ext>
                  </a:extLst>
                </a:gridCol>
              </a:tblGrid>
              <a:tr h="804269"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req-id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966" marR="67966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Use cases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966" marR="67966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analysis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966" marR="67966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System design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966" marR="67966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Detailed design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966" marR="67966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coding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966" marR="67966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Test cases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966" marR="67966" marT="0" marB="0" anchor="ctr"/>
                </a:tc>
                <a:extLst>
                  <a:ext uri="{0D108BD9-81ED-4DB2-BD59-A6C34878D82A}">
                    <a16:rowId xmlns:a16="http://schemas.microsoft.com/office/drawing/2014/main" val="1393697970"/>
                  </a:ext>
                </a:extLst>
              </a:tr>
              <a:tr h="1198223"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u="sng" kern="100" dirty="0">
                          <a:effectLst/>
                        </a:rPr>
                        <a:t>RE-FR-EM-25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966" marR="67966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hlinkClick r:id="rId2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UC_01 </a:t>
                      </a:r>
                      <a:endParaRPr lang="en-US" sz="1100" kern="100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966" marR="67966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hlinkClick r:id="rId3" action="ppaction://hlinksldjump"/>
                        </a:rPr>
                        <a:t>EM-EN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966" marR="67966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u="sng" kern="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AM-DL-01</a:t>
                      </a:r>
                      <a:endParaRPr lang="en-US" sz="1100" kern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966" marR="67966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966" marR="67966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hlinkClick r:id="rId5" action="ppaction://hlinkfile"/>
                        </a:rPr>
                        <a:t>sours </a:t>
                      </a:r>
                      <a:endParaRPr lang="en-US" sz="11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966" marR="67966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u="sng" kern="10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TC_26</a:t>
                      </a:r>
                      <a:endParaRPr lang="en-US" sz="1100" b="1" kern="100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67966" marR="67966" marT="0" marB="0" anchor="ctr"/>
                </a:tc>
                <a:extLst>
                  <a:ext uri="{0D108BD9-81ED-4DB2-BD59-A6C34878D82A}">
                    <a16:rowId xmlns:a16="http://schemas.microsoft.com/office/drawing/2014/main" val="1127649344"/>
                  </a:ext>
                </a:extLst>
              </a:tr>
            </a:tbl>
          </a:graphicData>
        </a:graphic>
      </p:graphicFrame>
      <p:graphicFrame>
        <p:nvGraphicFramePr>
          <p:cNvPr id="3" name="جدول 2">
            <a:extLst>
              <a:ext uri="{FF2B5EF4-FFF2-40B4-BE49-F238E27FC236}">
                <a16:creationId xmlns:a16="http://schemas.microsoft.com/office/drawing/2014/main" id="{558EF484-FC19-AC8C-6608-8E429B96D8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029247"/>
              </p:ext>
            </p:extLst>
          </p:nvPr>
        </p:nvGraphicFramePr>
        <p:xfrm>
          <a:off x="211138" y="3429000"/>
          <a:ext cx="11685392" cy="119822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95483">
                  <a:extLst>
                    <a:ext uri="{9D8B030D-6E8A-4147-A177-3AD203B41FA5}">
                      <a16:colId xmlns:a16="http://schemas.microsoft.com/office/drawing/2014/main" val="3766593454"/>
                    </a:ext>
                  </a:extLst>
                </a:gridCol>
                <a:gridCol w="1343057">
                  <a:extLst>
                    <a:ext uri="{9D8B030D-6E8A-4147-A177-3AD203B41FA5}">
                      <a16:colId xmlns:a16="http://schemas.microsoft.com/office/drawing/2014/main" val="1471033158"/>
                    </a:ext>
                  </a:extLst>
                </a:gridCol>
                <a:gridCol w="1668768">
                  <a:extLst>
                    <a:ext uri="{9D8B030D-6E8A-4147-A177-3AD203B41FA5}">
                      <a16:colId xmlns:a16="http://schemas.microsoft.com/office/drawing/2014/main" val="3415309860"/>
                    </a:ext>
                  </a:extLst>
                </a:gridCol>
                <a:gridCol w="1669772">
                  <a:extLst>
                    <a:ext uri="{9D8B030D-6E8A-4147-A177-3AD203B41FA5}">
                      <a16:colId xmlns:a16="http://schemas.microsoft.com/office/drawing/2014/main" val="1654949435"/>
                    </a:ext>
                  </a:extLst>
                </a:gridCol>
                <a:gridCol w="1668768">
                  <a:extLst>
                    <a:ext uri="{9D8B030D-6E8A-4147-A177-3AD203B41FA5}">
                      <a16:colId xmlns:a16="http://schemas.microsoft.com/office/drawing/2014/main" val="282876118"/>
                    </a:ext>
                  </a:extLst>
                </a:gridCol>
                <a:gridCol w="1669772">
                  <a:extLst>
                    <a:ext uri="{9D8B030D-6E8A-4147-A177-3AD203B41FA5}">
                      <a16:colId xmlns:a16="http://schemas.microsoft.com/office/drawing/2014/main" val="3785452343"/>
                    </a:ext>
                  </a:extLst>
                </a:gridCol>
                <a:gridCol w="1669772">
                  <a:extLst>
                    <a:ext uri="{9D8B030D-6E8A-4147-A177-3AD203B41FA5}">
                      <a16:colId xmlns:a16="http://schemas.microsoft.com/office/drawing/2014/main" val="3245903347"/>
                    </a:ext>
                  </a:extLst>
                </a:gridCol>
              </a:tblGrid>
              <a:tr h="1198223"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u="sng" kern="100" dirty="0">
                          <a:effectLst/>
                        </a:rPr>
                        <a:t>RE-FR-EM-26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966" marR="67966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hlinkClick r:id="rId2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UC_01 </a:t>
                      </a:r>
                      <a:endParaRPr lang="en-US" sz="1100" kern="100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966" marR="67966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00" dirty="0">
                          <a:effectLst/>
                          <a:hlinkClick r:id="rId6" action="ppaction://hlinksldjump"/>
                        </a:rPr>
                        <a:t>EM-EN</a:t>
                      </a:r>
                      <a:endParaRPr lang="en-US" sz="1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966" marR="67966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u="sng" kern="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AM-DL-01</a:t>
                      </a:r>
                      <a:endParaRPr lang="en-US" sz="1100" kern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966" marR="67966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966" marR="67966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dirty="0">
                          <a:effectLst/>
                          <a:hlinkClick r:id="rId5" action="ppaction://hlinkfile"/>
                        </a:rPr>
                        <a:t>sours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966" marR="67966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sng" kern="10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TC_24</a:t>
                      </a:r>
                      <a:endParaRPr lang="en-US" sz="1100" kern="100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</a:endParaRPr>
                    </a:p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400" u="sng" kern="100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67966" marR="67966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9817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42996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0E3E22FD-F8B8-DF0F-D1EE-B3B996CD9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637"/>
            <a:ext cx="10515600" cy="42797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Book Antiqua" panose="02040602050305030304" pitchFamily="18" charset="0"/>
              </a:rPr>
              <a:t>Class Diagram</a:t>
            </a:r>
            <a:endParaRPr lang="ar-SA" dirty="0">
              <a:solidFill>
                <a:srgbClr val="FF0000"/>
              </a:solidFill>
              <a:latin typeface="Book Antiqua" panose="02040602050305030304" pitchFamily="18" charset="0"/>
            </a:endParaRPr>
          </a:p>
        </p:txBody>
      </p:sp>
      <p:pic>
        <p:nvPicPr>
          <p:cNvPr id="7" name="عنصر نائب للمحتوى 6">
            <a:extLst>
              <a:ext uri="{FF2B5EF4-FFF2-40B4-BE49-F238E27FC236}">
                <a16:creationId xmlns:a16="http://schemas.microsoft.com/office/drawing/2014/main" id="{8896B9BF-931F-FBA1-3331-95AEFC8AA9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43" y="634482"/>
            <a:ext cx="11803224" cy="612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6513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C675B47-9650-5565-BF7D-B1C950E49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9754"/>
            <a:ext cx="10515600" cy="52128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Book Antiqua" panose="02040602050305030304" pitchFamily="18" charset="0"/>
              </a:rPr>
              <a:t>Erd Schema</a:t>
            </a:r>
            <a:endParaRPr lang="ar-SA" dirty="0">
              <a:solidFill>
                <a:srgbClr val="FF0000"/>
              </a:solidFill>
              <a:latin typeface="Book Antiqua" panose="02040602050305030304" pitchFamily="18" charset="0"/>
            </a:endParaRPr>
          </a:p>
        </p:txBody>
      </p:sp>
      <p:pic>
        <p:nvPicPr>
          <p:cNvPr id="5" name="عنصر نائب للمحتوى 4">
            <a:extLst>
              <a:ext uri="{FF2B5EF4-FFF2-40B4-BE49-F238E27FC236}">
                <a16:creationId xmlns:a16="http://schemas.microsoft.com/office/drawing/2014/main" id="{2B041B24-9004-8CC8-E816-07CB477E00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6" y="886408"/>
            <a:ext cx="11775233" cy="557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311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7C4DD45-3275-51DB-C9CE-98E83CE64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690" y="85207"/>
            <a:ext cx="10515600" cy="52128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Book Antiqua" panose="02040602050305030304" pitchFamily="18" charset="0"/>
                <a:cs typeface="Arial" panose="020B0604020202020204" pitchFamily="34" charset="0"/>
              </a:rPr>
              <a:t>Used Tools</a:t>
            </a:r>
            <a:endParaRPr lang="ar-SA" dirty="0">
              <a:solidFill>
                <a:srgbClr val="FF0000"/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E56A2C2C-67D5-A1F7-6659-2812AEDDC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0728" y="1231641"/>
            <a:ext cx="8640146" cy="4002832"/>
          </a:xfrm>
        </p:spPr>
        <p:txBody>
          <a:bodyPr>
            <a:noAutofit/>
          </a:bodyPr>
          <a:lstStyle/>
          <a:p>
            <a:pPr algn="l" rtl="0"/>
            <a:r>
              <a:rPr lang="en-US" sz="2400" b="1" cap="small" dirty="0">
                <a:solidFill>
                  <a:schemeClr val="tx1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Application Type: </a:t>
            </a:r>
            <a:r>
              <a:rPr lang="en-US" sz="2400" b="1" dirty="0">
                <a:solidFill>
                  <a:srgbClr val="FF0000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Desktop Application (for Employees)</a:t>
            </a:r>
          </a:p>
          <a:p>
            <a:pPr marL="0" indent="0" algn="l" rtl="0">
              <a:buNone/>
            </a:pPr>
            <a:r>
              <a:rPr lang="en-US" sz="2400" b="1" dirty="0">
                <a:solidFill>
                  <a:srgbClr val="FF0000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                                Web Portal (for Citizens)</a:t>
            </a:r>
            <a:endParaRPr lang="ar-SA" sz="2400" dirty="0">
              <a:solidFill>
                <a:srgbClr val="FF0000"/>
              </a:solidFill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  <a:p>
            <a:pPr lvl="1" algn="l" rtl="0" fontAlgn="base"/>
            <a:r>
              <a:rPr lang="en-US" sz="2400" b="1" cap="small" dirty="0">
                <a:solidFill>
                  <a:schemeClr val="tx1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Programming Language: </a:t>
            </a:r>
            <a:r>
              <a:rPr lang="en-US" sz="2400" b="1" cap="small" dirty="0">
                <a:solidFill>
                  <a:srgbClr val="FF0000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C#</a:t>
            </a:r>
            <a:endParaRPr lang="ar-SA" sz="2400" dirty="0">
              <a:solidFill>
                <a:srgbClr val="FF0000"/>
              </a:solidFill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  <a:p>
            <a:pPr lvl="1" algn="l" rtl="0" fontAlgn="base"/>
            <a:r>
              <a:rPr lang="en-US" sz="2400" b="1" dirty="0">
                <a:solidFill>
                  <a:schemeClr val="tx1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Desktop</a:t>
            </a:r>
            <a:r>
              <a:rPr lang="en-US"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lang="en-US" sz="2400" b="1" cap="small" dirty="0">
                <a:solidFill>
                  <a:schemeClr val="tx1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UI Framework: </a:t>
            </a:r>
            <a:r>
              <a:rPr lang="en-US" sz="2400" b="1" cap="small" dirty="0">
                <a:solidFill>
                  <a:srgbClr val="FF0000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Windows Forms</a:t>
            </a:r>
          </a:p>
          <a:p>
            <a:pPr lvl="1" algn="l" rtl="0" fontAlgn="base"/>
            <a:r>
              <a:rPr lang="en-US" sz="2400" b="1" dirty="0">
                <a:solidFill>
                  <a:schemeClr val="tx1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Web Frontend : </a:t>
            </a:r>
            <a:r>
              <a:rPr lang="en-US" sz="2400" b="1" dirty="0">
                <a:solidFill>
                  <a:srgbClr val="FF0000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HTML, CSS, JavaScript, Razor, Bootstrap</a:t>
            </a:r>
          </a:p>
          <a:p>
            <a:pPr lvl="1" algn="l" rtl="0" fontAlgn="base"/>
            <a:r>
              <a:rPr lang="en-US" sz="2400" b="1" dirty="0">
                <a:solidFill>
                  <a:schemeClr val="tx1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Web Framework / Backend : </a:t>
            </a:r>
            <a:r>
              <a:rPr lang="en-US" sz="2400" b="1" dirty="0">
                <a:solidFill>
                  <a:srgbClr val="FF0000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ASP.NET Core</a:t>
            </a:r>
            <a:endParaRPr lang="ar-SA" sz="2400" dirty="0">
              <a:solidFill>
                <a:srgbClr val="FF0000"/>
              </a:solidFill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  <a:p>
            <a:pPr lvl="1" algn="l" rtl="0" fontAlgn="base"/>
            <a:r>
              <a:rPr lang="en-US" sz="2400" b="1" cap="small" dirty="0">
                <a:solidFill>
                  <a:schemeClr val="tx1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Development Environment</a:t>
            </a:r>
            <a:r>
              <a:rPr lang="en-US" sz="2400" b="1" cap="small" dirty="0">
                <a:solidFill>
                  <a:srgbClr val="FF0000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: Visual Studio</a:t>
            </a:r>
            <a:endParaRPr lang="ar-SA" sz="2400" dirty="0">
              <a:solidFill>
                <a:srgbClr val="FF0000"/>
              </a:solidFill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  <a:p>
            <a:pPr lvl="1" algn="l" rtl="0" fontAlgn="base"/>
            <a:r>
              <a:rPr lang="en-US" sz="2400" b="1" cap="small" dirty="0">
                <a:solidFill>
                  <a:schemeClr val="tx1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Database: </a:t>
            </a:r>
            <a:r>
              <a:rPr lang="en-US" sz="2400" b="1" cap="small" dirty="0">
                <a:solidFill>
                  <a:srgbClr val="FF0000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SQL Server</a:t>
            </a:r>
            <a:endParaRPr lang="ar-SA" sz="2400" dirty="0">
              <a:solidFill>
                <a:srgbClr val="FF0000"/>
              </a:solidFill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  <a:p>
            <a:pPr algn="l" rtl="0"/>
            <a:r>
              <a:rPr lang="en-US" sz="2400" b="1" cap="small" dirty="0">
                <a:solidFill>
                  <a:schemeClr val="tx1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 Supporting Libraries</a:t>
            </a:r>
            <a:r>
              <a:rPr lang="en-US" sz="2400" b="1" cap="small" dirty="0">
                <a:solidFill>
                  <a:srgbClr val="FF0000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: </a:t>
            </a:r>
            <a:r>
              <a:rPr lang="en-US" sz="2400" b="1" dirty="0">
                <a:solidFill>
                  <a:srgbClr val="FF0000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Entity Framework / Entity Framework Cor Bootstrap (for Web UI)</a:t>
            </a:r>
          </a:p>
          <a:p>
            <a:pPr algn="l" rtl="0"/>
            <a:endParaRPr lang="en-US" sz="2400" b="1" dirty="0">
              <a:solidFill>
                <a:srgbClr val="FF0000"/>
              </a:solidFill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83382575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1792</TotalTime>
  <Words>2970</Words>
  <Application>Microsoft Office PowerPoint</Application>
  <PresentationFormat>Widescreen</PresentationFormat>
  <Paragraphs>446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41" baseType="lpstr">
      <vt:lpstr>Aldhabi</vt:lpstr>
      <vt:lpstr>Andalus</vt:lpstr>
      <vt:lpstr>Arabic Typesetting</vt:lpstr>
      <vt:lpstr>Arial</vt:lpstr>
      <vt:lpstr>Book Antiqua</vt:lpstr>
      <vt:lpstr>Calibri</vt:lpstr>
      <vt:lpstr>Calibri Light</vt:lpstr>
      <vt:lpstr>Cambria Math</vt:lpstr>
      <vt:lpstr>Microsoft Uighur</vt:lpstr>
      <vt:lpstr>Plus Jakarta Sans</vt:lpstr>
      <vt:lpstr>Segoe UI Symbol</vt:lpstr>
      <vt:lpstr>Times New Roman</vt:lpstr>
      <vt:lpstr>Wingdings 2</vt:lpstr>
      <vt:lpstr>نسق Office</vt:lpstr>
      <vt:lpstr>Driving &amp; Vehicle License Department (DVLD)</vt:lpstr>
      <vt:lpstr>Abstract/Introduction</vt:lpstr>
      <vt:lpstr>Problem Statement &amp; Objectives</vt:lpstr>
      <vt:lpstr>Scope, Constraints &amp; Assumptions</vt:lpstr>
      <vt:lpstr>Related Works</vt:lpstr>
      <vt:lpstr>Gantt Chart</vt:lpstr>
      <vt:lpstr>Previous Requirement</vt:lpstr>
      <vt:lpstr>New Requirement</vt:lpstr>
      <vt:lpstr>Product Backlog</vt:lpstr>
      <vt:lpstr>PowerPoint Presentation</vt:lpstr>
      <vt:lpstr>PowerPoint Presentation</vt:lpstr>
      <vt:lpstr>Sprint {4} Backlog </vt:lpstr>
      <vt:lpstr>PowerPoint Presentation</vt:lpstr>
      <vt:lpstr>PowerPoint Presentation</vt:lpstr>
      <vt:lpstr>PowerPoint Presentation</vt:lpstr>
      <vt:lpstr>Sprint {5} Backlog</vt:lpstr>
      <vt:lpstr>Sprint {6} Backlog</vt:lpstr>
      <vt:lpstr>Use Case High Level</vt:lpstr>
      <vt:lpstr>Requirement Description Table</vt:lpstr>
      <vt:lpstr>Activity diagram</vt:lpstr>
      <vt:lpstr>Sequence diagram</vt:lpstr>
      <vt:lpstr>Test Case</vt:lpstr>
      <vt:lpstr>System Architecture</vt:lpstr>
      <vt:lpstr>RTM</vt:lpstr>
      <vt:lpstr>Class Diagram</vt:lpstr>
      <vt:lpstr>Erd Schema</vt:lpstr>
      <vt:lpstr>Used Tools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Driving &amp; Vehicle License Department (DVLD)</dc:title>
  <dc:creator>Ahmad</dc:creator>
  <cp:lastModifiedBy>Alhasan Alhomsi</cp:lastModifiedBy>
  <cp:revision>33</cp:revision>
  <dcterms:created xsi:type="dcterms:W3CDTF">2025-12-20T09:10:13Z</dcterms:created>
  <dcterms:modified xsi:type="dcterms:W3CDTF">2026-05-27T02:44:57Z</dcterms:modified>
</cp:coreProperties>
</file>